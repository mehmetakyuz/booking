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Shape 1"/>
          <p:cNvSpPr/>
          <p:nvPr/>
        </p:nvSpPr>
        <p:spPr>
          <a:xfrm>
            <a:off x="0" y="1645920"/>
            <a:ext cx="73152" cy="1828800"/>
          </a:xfrm>
          <a:prstGeom prst="rect">
            <a:avLst/>
          </a:prstGeom>
          <a:solidFill>
            <a:srgbClr val="E35205"/>
          </a:solidFill>
          <a:ln/>
        </p:spPr>
      </p:sp>
      <p:sp>
        <p:nvSpPr>
          <p:cNvPr id="4" name="Text 2"/>
          <p:cNvSpPr/>
          <p:nvPr/>
        </p:nvSpPr>
        <p:spPr>
          <a:xfrm>
            <a:off x="640080" y="1097280"/>
            <a:ext cx="8229600" cy="2011680"/>
          </a:xfrm>
          <a:prstGeom prst="rect">
            <a:avLst/>
          </a:prstGeom>
          <a:noFill/>
          <a:ln/>
        </p:spPr>
        <p:txBody>
          <a:bodyPr wrap="square" lIns="0" tIns="0" rIns="0" bIns="0" rtlCol="0" anchor="ctr"/>
          <a:lstStyle/>
          <a:p>
            <a:pPr indent="0" marL="0">
              <a:lnSpc>
                <a:spcPct val="110000"/>
              </a:lnSpc>
              <a:buNone/>
            </a:pPr>
            <a:r>
              <a:rPr lang="en-US" sz="4800" b="1" dirty="0">
                <a:solidFill>
                  <a:srgbClr val="FFFFFF"/>
                </a:solidFill>
                <a:latin typeface="Georgia" pitchFamily="34" charset="0"/>
                <a:ea typeface="Georgia" pitchFamily="34" charset="-122"/>
                <a:cs typeface="Georgia" pitchFamily="34" charset="-120"/>
              </a:rPr>
              <a:t>Spec-Based</a:t>
            </a:r>
            <a:endParaRPr lang="en-US" sz="4800" dirty="0"/>
          </a:p>
          <a:p>
            <a:pPr indent="0" marL="0">
              <a:lnSpc>
                <a:spcPct val="110000"/>
              </a:lnSpc>
              <a:buNone/>
            </a:pPr>
            <a:r>
              <a:rPr lang="en-US" sz="4800" b="1" dirty="0">
                <a:solidFill>
                  <a:srgbClr val="FFFFFF"/>
                </a:solidFill>
                <a:latin typeface="Georgia" pitchFamily="34" charset="0"/>
                <a:ea typeface="Georgia" pitchFamily="34" charset="-122"/>
                <a:cs typeface="Georgia" pitchFamily="34" charset="-120"/>
              </a:rPr>
              <a:t>Implementation</a:t>
            </a:r>
            <a:endParaRPr lang="en-US" sz="4800" dirty="0"/>
          </a:p>
        </p:txBody>
      </p:sp>
      <p:sp>
        <p:nvSpPr>
          <p:cNvPr id="5" name="Text 3"/>
          <p:cNvSpPr/>
          <p:nvPr/>
        </p:nvSpPr>
        <p:spPr>
          <a:xfrm>
            <a:off x="640080" y="3154680"/>
            <a:ext cx="6400800" cy="45720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A framework for AI-driven development of a travel booking engine</a:t>
            </a:r>
            <a:endParaRPr lang="en-US" sz="1800" dirty="0"/>
          </a:p>
        </p:txBody>
      </p:sp>
      <p:sp>
        <p:nvSpPr>
          <p:cNvPr id="6" name="Shape 4"/>
          <p:cNvSpPr/>
          <p:nvPr/>
        </p:nvSpPr>
        <p:spPr>
          <a:xfrm>
            <a:off x="640080" y="3794760"/>
            <a:ext cx="2286000" cy="2743"/>
          </a:xfrm>
          <a:prstGeom prst="rect">
            <a:avLst/>
          </a:prstGeom>
          <a:solidFill>
            <a:srgbClr val="243447"/>
          </a:solidFill>
          <a:ln/>
        </p:spPr>
      </p:sp>
      <p:sp>
        <p:nvSpPr>
          <p:cNvPr id="7" name="Text 5"/>
          <p:cNvSpPr/>
          <p:nvPr/>
        </p:nvSpPr>
        <p:spPr>
          <a:xfrm>
            <a:off x="640080" y="3977640"/>
            <a:ext cx="45720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Mehmet Akyuz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457200"/>
            <a:ext cx="7863840" cy="411480"/>
          </a:xfrm>
          <a:prstGeom prst="rect">
            <a:avLst/>
          </a:prstGeom>
          <a:noFill/>
          <a:ln/>
        </p:spPr>
        <p:txBody>
          <a:bodyPr wrap="square" lIns="0" tIns="0" rIns="0" bIns="0" rtlCol="0" anchor="ctr"/>
          <a:lstStyle/>
          <a:p>
            <a:pPr algn="ctr" indent="0" marL="0">
              <a:buNone/>
            </a:pPr>
            <a:r>
              <a:rPr lang="en-US" sz="1400" spc="150" kern="0" dirty="0">
                <a:solidFill>
                  <a:srgbClr val="243447"/>
                </a:solidFill>
                <a:latin typeface="Calibri" pitchFamily="34" charset="0"/>
                <a:ea typeface="Calibri" pitchFamily="34" charset="-122"/>
                <a:cs typeface="Calibri" pitchFamily="34" charset="-120"/>
              </a:rPr>
              <a:t>Tickets  →  Sprints  →  Story Points  →  PR Queue  →  QA  →  Release Train</a:t>
            </a:r>
            <a:endParaRPr lang="en-US" sz="1400" dirty="0"/>
          </a:p>
        </p:txBody>
      </p:sp>
      <p:sp>
        <p:nvSpPr>
          <p:cNvPr id="4" name="Shape 2"/>
          <p:cNvSpPr/>
          <p:nvPr/>
        </p:nvSpPr>
        <p:spPr>
          <a:xfrm>
            <a:off x="914400" y="658368"/>
            <a:ext cx="7315200" cy="0"/>
          </a:xfrm>
          <a:prstGeom prst="line">
            <a:avLst/>
          </a:prstGeom>
          <a:noFill/>
          <a:ln w="25400">
            <a:solidFill>
              <a:srgbClr val="E35205"/>
            </a:solidFill>
            <a:prstDash val="solid"/>
          </a:ln>
        </p:spPr>
      </p:sp>
      <p:sp>
        <p:nvSpPr>
          <p:cNvPr id="5" name="Text 3"/>
          <p:cNvSpPr/>
          <p:nvPr/>
        </p:nvSpPr>
        <p:spPr>
          <a:xfrm>
            <a:off x="640080" y="960120"/>
            <a:ext cx="7863840" cy="822960"/>
          </a:xfrm>
          <a:prstGeom prst="rect">
            <a:avLst/>
          </a:prstGeom>
          <a:noFill/>
          <a:ln/>
        </p:spPr>
        <p:txBody>
          <a:bodyPr wrap="square" lIns="0" tIns="0" rIns="0" bIns="0" rtlCol="0" anchor="ctr"/>
          <a:lstStyle/>
          <a:p>
            <a:pPr algn="ctr" indent="0" marL="0">
              <a:buNone/>
            </a:pPr>
            <a:r>
              <a:rPr lang="en-US" sz="4600" b="1" dirty="0">
                <a:solidFill>
                  <a:srgbClr val="FFFFFF"/>
                </a:solidFill>
                <a:latin typeface="Georgia" pitchFamily="34" charset="0"/>
                <a:ea typeface="Georgia" pitchFamily="34" charset="-122"/>
                <a:cs typeface="Georgia" pitchFamily="34" charset="-120"/>
              </a:rPr>
              <a:t>The SDLC Is Dead.</a:t>
            </a:r>
            <a:endParaRPr lang="en-US" sz="4600" dirty="0"/>
          </a:p>
        </p:txBody>
      </p:sp>
      <p:sp>
        <p:nvSpPr>
          <p:cNvPr id="6" name="Text 4"/>
          <p:cNvSpPr/>
          <p:nvPr/>
        </p:nvSpPr>
        <p:spPr>
          <a:xfrm>
            <a:off x="640080" y="1783080"/>
            <a:ext cx="7863840" cy="685800"/>
          </a:xfrm>
          <a:prstGeom prst="rect">
            <a:avLst/>
          </a:prstGeom>
          <a:noFill/>
          <a:ln/>
        </p:spPr>
        <p:txBody>
          <a:bodyPr wrap="square" lIns="0" tIns="0" rIns="0" bIns="0" rtlCol="0" anchor="ctr"/>
          <a:lstStyle/>
          <a:p>
            <a:pPr algn="ctr" indent="0" marL="0">
              <a:buNone/>
            </a:pPr>
            <a:r>
              <a:rPr lang="en-US" sz="1600" i="1" dirty="0">
                <a:solidFill>
                  <a:srgbClr val="94A3B8"/>
                </a:solidFill>
                <a:latin typeface="Calibri" pitchFamily="34" charset="0"/>
                <a:ea typeface="Calibri" pitchFamily="34" charset="-122"/>
                <a:cs typeface="Calibri" pitchFamily="34" charset="-120"/>
              </a:rPr>
              <a:t>Framing AI as a "10x developer tool" is wrong.</a:t>
            </a:r>
            <a:endParaRPr lang="en-US" sz="1600" dirty="0"/>
          </a:p>
          <a:p>
            <a:pPr algn="ctr" indent="0" marL="0">
              <a:buNone/>
            </a:pPr>
            <a:r>
              <a:rPr lang="en-US" sz="1600" i="1" dirty="0">
                <a:solidFill>
                  <a:srgbClr val="94A3B8"/>
                </a:solidFill>
                <a:latin typeface="Calibri" pitchFamily="34" charset="0"/>
                <a:ea typeface="Calibri" pitchFamily="34" charset="-122"/>
                <a:cs typeface="Calibri" pitchFamily="34" charset="-120"/>
              </a:rPr>
              <a:t>It assumes the workflow stays the same. The entire lifecycle is collapsing.</a:t>
            </a:r>
            <a:endParaRPr lang="en-US" sz="1600" dirty="0"/>
          </a:p>
        </p:txBody>
      </p:sp>
      <p:sp>
        <p:nvSpPr>
          <p:cNvPr id="7" name="Shape 5"/>
          <p:cNvSpPr/>
          <p:nvPr/>
        </p:nvSpPr>
        <p:spPr>
          <a:xfrm>
            <a:off x="3200400" y="2606040"/>
            <a:ext cx="2743200" cy="2743"/>
          </a:xfrm>
          <a:prstGeom prst="rect">
            <a:avLst/>
          </a:prstGeom>
          <a:solidFill>
            <a:srgbClr val="243447"/>
          </a:solidFill>
          <a:ln/>
        </p:spPr>
      </p:sp>
      <p:sp>
        <p:nvSpPr>
          <p:cNvPr id="8" name="Shape 6"/>
          <p:cNvSpPr/>
          <p:nvPr/>
        </p:nvSpPr>
        <p:spPr>
          <a:xfrm>
            <a:off x="640080" y="2834640"/>
            <a:ext cx="3840480" cy="96012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9" name="Text 7"/>
          <p:cNvSpPr/>
          <p:nvPr/>
        </p:nvSpPr>
        <p:spPr>
          <a:xfrm>
            <a:off x="822960" y="2944368"/>
            <a:ext cx="502920" cy="365760"/>
          </a:xfrm>
          <a:prstGeom prst="rect">
            <a:avLst/>
          </a:prstGeom>
          <a:noFill/>
          <a:ln/>
        </p:spPr>
        <p:txBody>
          <a:bodyPr wrap="square" lIns="0" tIns="0" rIns="0" bIns="0" rtlCol="0" anchor="ctr"/>
          <a:lstStyle/>
          <a:p>
            <a:pPr indent="0" marL="0">
              <a:buNone/>
            </a:pPr>
            <a:r>
              <a:rPr lang="en-US" sz="2400" b="1" dirty="0">
                <a:solidFill>
                  <a:srgbClr val="E35205"/>
                </a:solidFill>
                <a:latin typeface="Georgia" pitchFamily="34" charset="0"/>
                <a:ea typeface="Georgia" pitchFamily="34" charset="-122"/>
                <a:cs typeface="Georgia" pitchFamily="34" charset="-120"/>
              </a:rPr>
              <a:t>01</a:t>
            </a:r>
            <a:endParaRPr lang="en-US" sz="2400" dirty="0"/>
          </a:p>
        </p:txBody>
      </p:sp>
      <p:sp>
        <p:nvSpPr>
          <p:cNvPr id="10" name="Text 8"/>
          <p:cNvSpPr/>
          <p:nvPr/>
        </p:nvSpPr>
        <p:spPr>
          <a:xfrm>
            <a:off x="1280160" y="2944368"/>
            <a:ext cx="29260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Context over ceremony</a:t>
            </a:r>
            <a:endParaRPr lang="en-US" sz="1400" dirty="0"/>
          </a:p>
        </p:txBody>
      </p:sp>
      <p:sp>
        <p:nvSpPr>
          <p:cNvPr id="11" name="Text 9"/>
          <p:cNvSpPr/>
          <p:nvPr/>
        </p:nvSpPr>
        <p:spPr>
          <a:xfrm>
            <a:off x="1280160" y="3246120"/>
            <a:ext cx="3017520" cy="45720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Quality is proportional to the context you give the model — not the process, not the ceremony, but the context</a:t>
            </a:r>
            <a:endParaRPr lang="en-US" sz="1000" dirty="0"/>
          </a:p>
        </p:txBody>
      </p:sp>
      <p:sp>
        <p:nvSpPr>
          <p:cNvPr id="12" name="Shape 10"/>
          <p:cNvSpPr/>
          <p:nvPr/>
        </p:nvSpPr>
        <p:spPr>
          <a:xfrm>
            <a:off x="4800600" y="2834640"/>
            <a:ext cx="3840480" cy="96012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13" name="Text 11"/>
          <p:cNvSpPr/>
          <p:nvPr/>
        </p:nvSpPr>
        <p:spPr>
          <a:xfrm>
            <a:off x="4983480" y="2944368"/>
            <a:ext cx="502920" cy="365760"/>
          </a:xfrm>
          <a:prstGeom prst="rect">
            <a:avLst/>
          </a:prstGeom>
          <a:noFill/>
          <a:ln/>
        </p:spPr>
        <p:txBody>
          <a:bodyPr wrap="square" lIns="0" tIns="0" rIns="0" bIns="0" rtlCol="0" anchor="ctr"/>
          <a:lstStyle/>
          <a:p>
            <a:pPr indent="0" marL="0">
              <a:buNone/>
            </a:pPr>
            <a:r>
              <a:rPr lang="en-US" sz="2400" b="1" dirty="0">
                <a:solidFill>
                  <a:srgbClr val="E35205"/>
                </a:solidFill>
                <a:latin typeface="Georgia" pitchFamily="34" charset="0"/>
                <a:ea typeface="Georgia" pitchFamily="34" charset="-122"/>
                <a:cs typeface="Georgia" pitchFamily="34" charset="-120"/>
              </a:rPr>
              <a:t>02</a:t>
            </a:r>
            <a:endParaRPr lang="en-US" sz="2400" dirty="0"/>
          </a:p>
        </p:txBody>
      </p:sp>
      <p:sp>
        <p:nvSpPr>
          <p:cNvPr id="14" name="Text 12"/>
          <p:cNvSpPr/>
          <p:nvPr/>
        </p:nvSpPr>
        <p:spPr>
          <a:xfrm>
            <a:off x="5440680" y="2944368"/>
            <a:ext cx="29260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Iterate through specs, not sprints</a:t>
            </a:r>
            <a:endParaRPr lang="en-US" sz="1400" dirty="0"/>
          </a:p>
        </p:txBody>
      </p:sp>
      <p:sp>
        <p:nvSpPr>
          <p:cNvPr id="15" name="Text 13"/>
          <p:cNvSpPr/>
          <p:nvPr/>
        </p:nvSpPr>
        <p:spPr>
          <a:xfrm>
            <a:off x="5440680" y="3246120"/>
            <a:ext cx="3017520" cy="45720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We still iterate — but the loop is: update the spec, let the agent apply the change, review the output. Not two-week cycles</a:t>
            </a:r>
            <a:endParaRPr lang="en-US" sz="1000" dirty="0"/>
          </a:p>
        </p:txBody>
      </p:sp>
      <p:sp>
        <p:nvSpPr>
          <p:cNvPr id="16" name="Shape 14"/>
          <p:cNvSpPr/>
          <p:nvPr/>
        </p:nvSpPr>
        <p:spPr>
          <a:xfrm>
            <a:off x="640080" y="3977640"/>
            <a:ext cx="3840480" cy="96012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17" name="Text 15"/>
          <p:cNvSpPr/>
          <p:nvPr/>
        </p:nvSpPr>
        <p:spPr>
          <a:xfrm>
            <a:off x="822960" y="4087368"/>
            <a:ext cx="502920" cy="365760"/>
          </a:xfrm>
          <a:prstGeom prst="rect">
            <a:avLst/>
          </a:prstGeom>
          <a:noFill/>
          <a:ln/>
        </p:spPr>
        <p:txBody>
          <a:bodyPr wrap="square" lIns="0" tIns="0" rIns="0" bIns="0" rtlCol="0" anchor="ctr"/>
          <a:lstStyle/>
          <a:p>
            <a:pPr indent="0" marL="0">
              <a:buNone/>
            </a:pPr>
            <a:r>
              <a:rPr lang="en-US" sz="2400" b="1" dirty="0">
                <a:solidFill>
                  <a:srgbClr val="E35205"/>
                </a:solidFill>
                <a:latin typeface="Georgia" pitchFamily="34" charset="0"/>
                <a:ea typeface="Georgia" pitchFamily="34" charset="-122"/>
                <a:cs typeface="Georgia" pitchFamily="34" charset="-120"/>
              </a:rPr>
              <a:t>03</a:t>
            </a:r>
            <a:endParaRPr lang="en-US" sz="2400" dirty="0"/>
          </a:p>
        </p:txBody>
      </p:sp>
      <p:sp>
        <p:nvSpPr>
          <p:cNvPr id="18" name="Text 16"/>
          <p:cNvSpPr/>
          <p:nvPr/>
        </p:nvSpPr>
        <p:spPr>
          <a:xfrm>
            <a:off x="1280160" y="4087368"/>
            <a:ext cx="29260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Specs over sprints</a:t>
            </a:r>
            <a:endParaRPr lang="en-US" sz="1400" dirty="0"/>
          </a:p>
        </p:txBody>
      </p:sp>
      <p:sp>
        <p:nvSpPr>
          <p:cNvPr id="19" name="Text 17"/>
          <p:cNvSpPr/>
          <p:nvPr/>
        </p:nvSpPr>
        <p:spPr>
          <a:xfrm>
            <a:off x="1280160" y="4389120"/>
            <a:ext cx="3017520" cy="45720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Replace estimation rituals with precise specifications. The new skill is context engineering, not project management</a:t>
            </a:r>
            <a:endParaRPr lang="en-US" sz="1000" dirty="0"/>
          </a:p>
        </p:txBody>
      </p:sp>
      <p:sp>
        <p:nvSpPr>
          <p:cNvPr id="20" name="Shape 18"/>
          <p:cNvSpPr/>
          <p:nvPr/>
        </p:nvSpPr>
        <p:spPr>
          <a:xfrm>
            <a:off x="4800600" y="3977640"/>
            <a:ext cx="3840480" cy="96012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21" name="Text 19"/>
          <p:cNvSpPr/>
          <p:nvPr/>
        </p:nvSpPr>
        <p:spPr>
          <a:xfrm>
            <a:off x="4983480" y="4087368"/>
            <a:ext cx="502920" cy="365760"/>
          </a:xfrm>
          <a:prstGeom prst="rect">
            <a:avLst/>
          </a:prstGeom>
          <a:noFill/>
          <a:ln/>
        </p:spPr>
        <p:txBody>
          <a:bodyPr wrap="square" lIns="0" tIns="0" rIns="0" bIns="0" rtlCol="0" anchor="ctr"/>
          <a:lstStyle/>
          <a:p>
            <a:pPr indent="0" marL="0">
              <a:buNone/>
            </a:pPr>
            <a:r>
              <a:rPr lang="en-US" sz="2400" b="1" dirty="0">
                <a:solidFill>
                  <a:srgbClr val="E35205"/>
                </a:solidFill>
                <a:latin typeface="Georgia" pitchFamily="34" charset="0"/>
                <a:ea typeface="Georgia" pitchFamily="34" charset="-122"/>
                <a:cs typeface="Georgia" pitchFamily="34" charset="-120"/>
              </a:rPr>
              <a:t>04</a:t>
            </a:r>
            <a:endParaRPr lang="en-US" sz="2400" dirty="0"/>
          </a:p>
        </p:txBody>
      </p:sp>
      <p:sp>
        <p:nvSpPr>
          <p:cNvPr id="22" name="Text 20"/>
          <p:cNvSpPr/>
          <p:nvPr/>
        </p:nvSpPr>
        <p:spPr>
          <a:xfrm>
            <a:off x="5440680" y="4087368"/>
            <a:ext cx="29260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Observability over QA gates</a:t>
            </a:r>
            <a:endParaRPr lang="en-US" sz="1400" dirty="0"/>
          </a:p>
        </p:txBody>
      </p:sp>
      <p:sp>
        <p:nvSpPr>
          <p:cNvPr id="23" name="Text 21"/>
          <p:cNvSpPr/>
          <p:nvPr/>
        </p:nvSpPr>
        <p:spPr>
          <a:xfrm>
            <a:off x="5440680" y="4389120"/>
            <a:ext cx="3017520" cy="45720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Agents write tests alongside code by default. The safety net isn't a QA phase — it's observability from day one</a:t>
            </a:r>
            <a:endParaRPr lang="en-US" sz="1000" dirty="0"/>
          </a:p>
        </p:txBody>
      </p:sp>
      <p:sp>
        <p:nvSpPr>
          <p:cNvPr id="24" name="Text 22"/>
          <p:cNvSpPr/>
          <p:nvPr/>
        </p:nvSpPr>
        <p:spPr>
          <a:xfrm>
            <a:off x="640080" y="4754880"/>
            <a:ext cx="7863840" cy="274320"/>
          </a:xfrm>
          <a:prstGeom prst="rect">
            <a:avLst/>
          </a:prstGeom>
          <a:noFill/>
          <a:ln/>
        </p:spPr>
        <p:txBody>
          <a:bodyPr wrap="square" lIns="0" tIns="0" rIns="0" bIns="0" rtlCol="0" anchor="ctr"/>
          <a:lstStyle/>
          <a:p>
            <a:pPr algn="ctr" indent="0" marL="0">
              <a:buNone/>
            </a:pPr>
            <a:r>
              <a:rPr lang="en-US" sz="900" i="1" dirty="0">
                <a:solidFill>
                  <a:srgbClr val="243447"/>
                </a:solidFill>
                <a:latin typeface="Calibri" pitchFamily="34" charset="0"/>
                <a:ea typeface="Calibri" pitchFamily="34" charset="-122"/>
                <a:cs typeface="Calibri" pitchFamily="34" charset="-120"/>
              </a:rPr>
              <a:t>Inspired by Boris Tane, "The Software Development Lifecycle Is Dead"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274320"/>
            <a:ext cx="8229600" cy="548640"/>
          </a:xfrm>
          <a:prstGeom prst="rect">
            <a:avLst/>
          </a:prstGeom>
          <a:noFill/>
          <a:ln/>
        </p:spPr>
        <p:txBody>
          <a:bodyPr wrap="square" lIns="0" tIns="0" rIns="0" bIns="0" rtlCol="0" anchor="ctr"/>
          <a:lstStyle/>
          <a:p>
            <a:pPr indent="0" marL="0">
              <a:buNone/>
            </a:pPr>
            <a:r>
              <a:rPr lang="en-US" sz="3600" b="1" dirty="0">
                <a:solidFill>
                  <a:srgbClr val="0F1419"/>
                </a:solidFill>
                <a:latin typeface="Georgia" pitchFamily="34" charset="0"/>
                <a:ea typeface="Georgia" pitchFamily="34" charset="-122"/>
                <a:cs typeface="Georgia" pitchFamily="34" charset="-120"/>
              </a:rPr>
              <a:t>The New Skills</a:t>
            </a:r>
            <a:endParaRPr lang="en-US" sz="3600" dirty="0"/>
          </a:p>
        </p:txBody>
      </p:sp>
      <p:sp>
        <p:nvSpPr>
          <p:cNvPr id="4" name="Text 2"/>
          <p:cNvSpPr/>
          <p:nvPr/>
        </p:nvSpPr>
        <p:spPr>
          <a:xfrm>
            <a:off x="640080" y="868680"/>
            <a:ext cx="7772400" cy="365760"/>
          </a:xfrm>
          <a:prstGeom prst="rect">
            <a:avLst/>
          </a:prstGeom>
          <a:noFill/>
          <a:ln/>
        </p:spPr>
        <p:txBody>
          <a:bodyPr wrap="square" lIns="0" tIns="0" rIns="0" bIns="0" rtlCol="0" anchor="ctr"/>
          <a:lstStyle/>
          <a:p>
            <a:pPr indent="0" marL="0">
              <a:buNone/>
            </a:pPr>
            <a:r>
              <a:rPr lang="en-US" sz="1600" i="1" dirty="0">
                <a:solidFill>
                  <a:srgbClr val="243447"/>
                </a:solidFill>
                <a:latin typeface="Calibri" pitchFamily="34" charset="0"/>
                <a:ea typeface="Calibri" pitchFamily="34" charset="-122"/>
                <a:cs typeface="Calibri" pitchFamily="34" charset="-120"/>
              </a:rPr>
              <a:t>If AI writes the code, what do humans bring to the table?</a:t>
            </a:r>
            <a:endParaRPr lang="en-US" sz="1600" dirty="0"/>
          </a:p>
        </p:txBody>
      </p:sp>
      <p:sp>
        <p:nvSpPr>
          <p:cNvPr id="5" name="Shape 3"/>
          <p:cNvSpPr/>
          <p:nvPr/>
        </p:nvSpPr>
        <p:spPr>
          <a:xfrm>
            <a:off x="640080" y="1463040"/>
            <a:ext cx="2560320" cy="201168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6" name="Shape 4"/>
          <p:cNvSpPr/>
          <p:nvPr/>
        </p:nvSpPr>
        <p:spPr>
          <a:xfrm>
            <a:off x="640080" y="1463040"/>
            <a:ext cx="2560320" cy="54864"/>
          </a:xfrm>
          <a:prstGeom prst="rect">
            <a:avLst/>
          </a:prstGeom>
          <a:solidFill>
            <a:srgbClr val="E35205"/>
          </a:solidFill>
          <a:ln/>
        </p:spPr>
      </p:sp>
      <p:sp>
        <p:nvSpPr>
          <p:cNvPr id="7" name="Text 5"/>
          <p:cNvSpPr/>
          <p:nvPr/>
        </p:nvSpPr>
        <p:spPr>
          <a:xfrm>
            <a:off x="868680" y="1645920"/>
            <a:ext cx="2103120" cy="411480"/>
          </a:xfrm>
          <a:prstGeom prst="rect">
            <a:avLst/>
          </a:prstGeom>
          <a:noFill/>
          <a:ln/>
        </p:spPr>
        <p:txBody>
          <a:bodyPr wrap="square" lIns="0" tIns="0" rIns="0" bIns="0" rtlCol="0" anchor="ctr"/>
          <a:lstStyle/>
          <a:p>
            <a:pPr indent="0" marL="0">
              <a:buNone/>
            </a:pPr>
            <a:r>
              <a:rPr lang="en-US" sz="2600" b="1" dirty="0">
                <a:solidFill>
                  <a:srgbClr val="0F1419"/>
                </a:solidFill>
                <a:latin typeface="Georgia" pitchFamily="34" charset="0"/>
                <a:ea typeface="Georgia" pitchFamily="34" charset="-122"/>
                <a:cs typeface="Georgia" pitchFamily="34" charset="-120"/>
              </a:rPr>
              <a:t>Taste</a:t>
            </a:r>
            <a:endParaRPr lang="en-US" sz="2600" dirty="0"/>
          </a:p>
        </p:txBody>
      </p:sp>
      <p:sp>
        <p:nvSpPr>
          <p:cNvPr id="8" name="Text 6"/>
          <p:cNvSpPr/>
          <p:nvPr/>
        </p:nvSpPr>
        <p:spPr>
          <a:xfrm>
            <a:off x="868680" y="2103120"/>
            <a:ext cx="2103120" cy="1234440"/>
          </a:xfrm>
          <a:prstGeom prst="rect">
            <a:avLst/>
          </a:prstGeom>
          <a:noFill/>
          <a:ln/>
        </p:spPr>
        <p:txBody>
          <a:bodyPr wrap="square" lIns="0" tIns="0" rIns="0" bIns="0" rtlCol="0" anchor="ctr"/>
          <a:lstStyle/>
          <a:p>
            <a:pPr indent="0" marL="0">
              <a:buNone/>
            </a:pPr>
            <a:r>
              <a:rPr lang="en-US" sz="1100" dirty="0">
                <a:solidFill>
                  <a:srgbClr val="243447"/>
                </a:solidFill>
                <a:latin typeface="Calibri" pitchFamily="34" charset="0"/>
                <a:ea typeface="Calibri" pitchFamily="34" charset="-122"/>
                <a:cs typeface="Calibri" pitchFamily="34" charset="-120"/>
              </a:rPr>
              <a:t>Knowing what good looks like. Recognising when an output is mediocre, even if it technically works. The bar is yours to set — the model won't set it for you</a:t>
            </a:r>
            <a:endParaRPr lang="en-US" sz="1100" dirty="0"/>
          </a:p>
        </p:txBody>
      </p:sp>
      <p:sp>
        <p:nvSpPr>
          <p:cNvPr id="9" name="Shape 7"/>
          <p:cNvSpPr/>
          <p:nvPr/>
        </p:nvSpPr>
        <p:spPr>
          <a:xfrm>
            <a:off x="3429000" y="1463040"/>
            <a:ext cx="2560320" cy="201168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0" name="Shape 8"/>
          <p:cNvSpPr/>
          <p:nvPr/>
        </p:nvSpPr>
        <p:spPr>
          <a:xfrm>
            <a:off x="3429000" y="1463040"/>
            <a:ext cx="2560320" cy="54864"/>
          </a:xfrm>
          <a:prstGeom prst="rect">
            <a:avLst/>
          </a:prstGeom>
          <a:solidFill>
            <a:srgbClr val="105F66"/>
          </a:solidFill>
          <a:ln/>
        </p:spPr>
      </p:sp>
      <p:sp>
        <p:nvSpPr>
          <p:cNvPr id="11" name="Text 9"/>
          <p:cNvSpPr/>
          <p:nvPr/>
        </p:nvSpPr>
        <p:spPr>
          <a:xfrm>
            <a:off x="3657600" y="1645920"/>
            <a:ext cx="2103120" cy="411480"/>
          </a:xfrm>
          <a:prstGeom prst="rect">
            <a:avLst/>
          </a:prstGeom>
          <a:noFill/>
          <a:ln/>
        </p:spPr>
        <p:txBody>
          <a:bodyPr wrap="square" lIns="0" tIns="0" rIns="0" bIns="0" rtlCol="0" anchor="ctr"/>
          <a:lstStyle/>
          <a:p>
            <a:pPr indent="0" marL="0">
              <a:buNone/>
            </a:pPr>
            <a:r>
              <a:rPr lang="en-US" sz="2600" b="1" dirty="0">
                <a:solidFill>
                  <a:srgbClr val="0F1419"/>
                </a:solidFill>
                <a:latin typeface="Georgia" pitchFamily="34" charset="0"/>
                <a:ea typeface="Georgia" pitchFamily="34" charset="-122"/>
                <a:cs typeface="Georgia" pitchFamily="34" charset="-120"/>
              </a:rPr>
              <a:t>Judgement</a:t>
            </a:r>
            <a:endParaRPr lang="en-US" sz="2600" dirty="0"/>
          </a:p>
        </p:txBody>
      </p:sp>
      <p:sp>
        <p:nvSpPr>
          <p:cNvPr id="12" name="Text 10"/>
          <p:cNvSpPr/>
          <p:nvPr/>
        </p:nvSpPr>
        <p:spPr>
          <a:xfrm>
            <a:off x="3657600" y="2103120"/>
            <a:ext cx="2103120" cy="1234440"/>
          </a:xfrm>
          <a:prstGeom prst="rect">
            <a:avLst/>
          </a:prstGeom>
          <a:noFill/>
          <a:ln/>
        </p:spPr>
        <p:txBody>
          <a:bodyPr wrap="square" lIns="0" tIns="0" rIns="0" bIns="0" rtlCol="0" anchor="ctr"/>
          <a:lstStyle/>
          <a:p>
            <a:pPr indent="0" marL="0">
              <a:buNone/>
            </a:pPr>
            <a:r>
              <a:rPr lang="en-US" sz="1100" dirty="0">
                <a:solidFill>
                  <a:srgbClr val="243447"/>
                </a:solidFill>
                <a:latin typeface="Calibri" pitchFamily="34" charset="0"/>
                <a:ea typeface="Calibri" pitchFamily="34" charset="-122"/>
                <a:cs typeface="Calibri" pitchFamily="34" charset="-120"/>
              </a:rPr>
              <a:t>Deciding what to build, what to cut, and when the output is done. Models generate endlessly — knowing when to stop is a human skill</a:t>
            </a:r>
            <a:endParaRPr lang="en-US" sz="1100" dirty="0"/>
          </a:p>
        </p:txBody>
      </p:sp>
      <p:sp>
        <p:nvSpPr>
          <p:cNvPr id="13" name="Shape 11"/>
          <p:cNvSpPr/>
          <p:nvPr/>
        </p:nvSpPr>
        <p:spPr>
          <a:xfrm>
            <a:off x="6217920" y="1463040"/>
            <a:ext cx="2560320" cy="201168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4" name="Shape 12"/>
          <p:cNvSpPr/>
          <p:nvPr/>
        </p:nvSpPr>
        <p:spPr>
          <a:xfrm>
            <a:off x="6217920" y="1463040"/>
            <a:ext cx="2560320" cy="54864"/>
          </a:xfrm>
          <a:prstGeom prst="rect">
            <a:avLst/>
          </a:prstGeom>
          <a:solidFill>
            <a:srgbClr val="E35205"/>
          </a:solidFill>
          <a:ln/>
        </p:spPr>
      </p:sp>
      <p:sp>
        <p:nvSpPr>
          <p:cNvPr id="15" name="Text 13"/>
          <p:cNvSpPr/>
          <p:nvPr/>
        </p:nvSpPr>
        <p:spPr>
          <a:xfrm>
            <a:off x="6446520" y="1645920"/>
            <a:ext cx="2103120" cy="411480"/>
          </a:xfrm>
          <a:prstGeom prst="rect">
            <a:avLst/>
          </a:prstGeom>
          <a:noFill/>
          <a:ln/>
        </p:spPr>
        <p:txBody>
          <a:bodyPr wrap="square" lIns="0" tIns="0" rIns="0" bIns="0" rtlCol="0" anchor="ctr"/>
          <a:lstStyle/>
          <a:p>
            <a:pPr indent="0" marL="0">
              <a:buNone/>
            </a:pPr>
            <a:r>
              <a:rPr lang="en-US" sz="2600" b="1" dirty="0">
                <a:solidFill>
                  <a:srgbClr val="0F1419"/>
                </a:solidFill>
                <a:latin typeface="Georgia" pitchFamily="34" charset="0"/>
                <a:ea typeface="Georgia" pitchFamily="34" charset="-122"/>
                <a:cs typeface="Georgia" pitchFamily="34" charset="-120"/>
              </a:rPr>
              <a:t>Intent</a:t>
            </a:r>
            <a:endParaRPr lang="en-US" sz="2600" dirty="0"/>
          </a:p>
        </p:txBody>
      </p:sp>
      <p:sp>
        <p:nvSpPr>
          <p:cNvPr id="16" name="Text 14"/>
          <p:cNvSpPr/>
          <p:nvPr/>
        </p:nvSpPr>
        <p:spPr>
          <a:xfrm>
            <a:off x="6446520" y="2103120"/>
            <a:ext cx="2103120" cy="1234440"/>
          </a:xfrm>
          <a:prstGeom prst="rect">
            <a:avLst/>
          </a:prstGeom>
          <a:noFill/>
          <a:ln/>
        </p:spPr>
        <p:txBody>
          <a:bodyPr wrap="square" lIns="0" tIns="0" rIns="0" bIns="0" rtlCol="0" anchor="ctr"/>
          <a:lstStyle/>
          <a:p>
            <a:pPr indent="0" marL="0">
              <a:buNone/>
            </a:pPr>
            <a:r>
              <a:rPr lang="en-US" sz="1100" dirty="0">
                <a:solidFill>
                  <a:srgbClr val="243447"/>
                </a:solidFill>
                <a:latin typeface="Calibri" pitchFamily="34" charset="0"/>
                <a:ea typeface="Calibri" pitchFamily="34" charset="-122"/>
                <a:cs typeface="Calibri" pitchFamily="34" charset="-120"/>
              </a:rPr>
              <a:t>Articulating what you actually want with precision. Vague intent produces vague output. The clearer your vision, the better the spec, the better the result</a:t>
            </a:r>
            <a:endParaRPr lang="en-US" sz="1100" dirty="0"/>
          </a:p>
        </p:txBody>
      </p:sp>
      <p:sp>
        <p:nvSpPr>
          <p:cNvPr id="17" name="Text 15"/>
          <p:cNvSpPr/>
          <p:nvPr/>
        </p:nvSpPr>
        <p:spPr>
          <a:xfrm>
            <a:off x="3200400" y="2011680"/>
            <a:ext cx="274320" cy="457200"/>
          </a:xfrm>
          <a:prstGeom prst="rect">
            <a:avLst/>
          </a:prstGeom>
          <a:noFill/>
          <a:ln/>
        </p:spPr>
        <p:txBody>
          <a:bodyPr wrap="square" lIns="0" tIns="0" rIns="0" bIns="0" rtlCol="0" anchor="ctr"/>
          <a:lstStyle/>
          <a:p>
            <a:pPr algn="ctr" indent="0" marL="0">
              <a:buNone/>
            </a:pPr>
            <a:r>
              <a:rPr lang="en-US" sz="2800" dirty="0">
                <a:solidFill>
                  <a:srgbClr val="94A3B8"/>
                </a:solidFill>
                <a:latin typeface="Georgia" pitchFamily="34" charset="0"/>
                <a:ea typeface="Georgia" pitchFamily="34" charset="-122"/>
                <a:cs typeface="Georgia" pitchFamily="34" charset="-120"/>
              </a:rPr>
              <a:t>+</a:t>
            </a:r>
            <a:endParaRPr lang="en-US" sz="2800" dirty="0"/>
          </a:p>
        </p:txBody>
      </p:sp>
      <p:sp>
        <p:nvSpPr>
          <p:cNvPr id="18" name="Text 16"/>
          <p:cNvSpPr/>
          <p:nvPr/>
        </p:nvSpPr>
        <p:spPr>
          <a:xfrm>
            <a:off x="5989320" y="2011680"/>
            <a:ext cx="274320" cy="457200"/>
          </a:xfrm>
          <a:prstGeom prst="rect">
            <a:avLst/>
          </a:prstGeom>
          <a:noFill/>
          <a:ln/>
        </p:spPr>
        <p:txBody>
          <a:bodyPr wrap="square" lIns="0" tIns="0" rIns="0" bIns="0" rtlCol="0" anchor="ctr"/>
          <a:lstStyle/>
          <a:p>
            <a:pPr algn="ctr" indent="0" marL="0">
              <a:buNone/>
            </a:pPr>
            <a:r>
              <a:rPr lang="en-US" sz="2800" dirty="0">
                <a:solidFill>
                  <a:srgbClr val="94A3B8"/>
                </a:solidFill>
                <a:latin typeface="Georgia" pitchFamily="34" charset="0"/>
                <a:ea typeface="Georgia" pitchFamily="34" charset="-122"/>
                <a:cs typeface="Georgia" pitchFamily="34" charset="-120"/>
              </a:rPr>
              <a:t>+</a:t>
            </a:r>
            <a:endParaRPr lang="en-US" sz="2800" dirty="0"/>
          </a:p>
        </p:txBody>
      </p:sp>
      <p:sp>
        <p:nvSpPr>
          <p:cNvPr id="19" name="Shape 17"/>
          <p:cNvSpPr/>
          <p:nvPr/>
        </p:nvSpPr>
        <p:spPr>
          <a:xfrm>
            <a:off x="640080" y="3794760"/>
            <a:ext cx="7863840" cy="1051560"/>
          </a:xfrm>
          <a:prstGeom prst="rect">
            <a:avLst/>
          </a:prstGeom>
          <a:solidFill>
            <a:srgbClr val="0F1419"/>
          </a:solidFill>
          <a:ln/>
          <a:effectLst>
            <a:outerShdw sx="100000" sy="100000" kx="0" ky="0" algn="bl" rotWithShape="0" blurRad="101600" dist="38100" dir="8100000">
              <a:srgbClr val="000000">
                <a:alpha val="25000"/>
              </a:srgbClr>
            </a:outerShdw>
          </a:effectLst>
        </p:spPr>
      </p:sp>
      <p:sp>
        <p:nvSpPr>
          <p:cNvPr id="20" name="Text 18"/>
          <p:cNvSpPr/>
          <p:nvPr/>
        </p:nvSpPr>
        <p:spPr>
          <a:xfrm>
            <a:off x="914400" y="3886200"/>
            <a:ext cx="4114800" cy="365760"/>
          </a:xfrm>
          <a:prstGeom prst="rect">
            <a:avLst/>
          </a:prstGeom>
          <a:noFill/>
          <a:ln/>
        </p:spPr>
        <p:txBody>
          <a:bodyPr wrap="square" lIns="0" tIns="0" rIns="0" bIns="0" rtlCol="0" anchor="ctr"/>
          <a:lstStyle/>
          <a:p>
            <a:pPr indent="0" marL="0">
              <a:buNone/>
            </a:pPr>
            <a:r>
              <a:rPr lang="en-US" sz="1800" b="1" dirty="0">
                <a:solidFill>
                  <a:srgbClr val="E35205"/>
                </a:solidFill>
                <a:latin typeface="Calibri" pitchFamily="34" charset="0"/>
                <a:ea typeface="Calibri" pitchFamily="34" charset="-122"/>
                <a:cs typeface="Calibri" pitchFamily="34" charset="-120"/>
              </a:rPr>
              <a:t>Amplified by Domain Knowledge</a:t>
            </a:r>
            <a:endParaRPr lang="en-US" sz="1800" dirty="0"/>
          </a:p>
        </p:txBody>
      </p:sp>
      <p:sp>
        <p:nvSpPr>
          <p:cNvPr id="21" name="Text 19"/>
          <p:cNvSpPr/>
          <p:nvPr/>
        </p:nvSpPr>
        <p:spPr>
          <a:xfrm>
            <a:off x="914400" y="4251960"/>
            <a:ext cx="731520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Models don't understand your business, your users, or your constraints. Domain expertise is what turns generic AI output into something that actually solves the right problem. Without it, you're just generating plausible-looking software.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274320"/>
            <a:ext cx="8229600" cy="548640"/>
          </a:xfrm>
          <a:prstGeom prst="rect">
            <a:avLst/>
          </a:prstGeom>
          <a:noFill/>
          <a:ln/>
        </p:spPr>
        <p:txBody>
          <a:bodyPr wrap="square" lIns="0" tIns="0" rIns="0" bIns="0" rtlCol="0" anchor="ctr"/>
          <a:lstStyle/>
          <a:p>
            <a:pPr indent="0" marL="0">
              <a:buNone/>
            </a:pPr>
            <a:r>
              <a:rPr lang="en-US" sz="3600" b="1" dirty="0">
                <a:solidFill>
                  <a:srgbClr val="0F1419"/>
                </a:solidFill>
                <a:latin typeface="Georgia" pitchFamily="34" charset="0"/>
                <a:ea typeface="Georgia" pitchFamily="34" charset="-122"/>
                <a:cs typeface="Georgia" pitchFamily="34" charset="-120"/>
              </a:rPr>
              <a:t>Specs as the Source of Truth</a:t>
            </a:r>
            <a:endParaRPr lang="en-US" sz="3600" dirty="0"/>
          </a:p>
        </p:txBody>
      </p:sp>
      <p:sp>
        <p:nvSpPr>
          <p:cNvPr id="4" name="Text 2"/>
          <p:cNvSpPr/>
          <p:nvPr/>
        </p:nvSpPr>
        <p:spPr>
          <a:xfrm>
            <a:off x="640080" y="868680"/>
            <a:ext cx="7772400" cy="457200"/>
          </a:xfrm>
          <a:prstGeom prst="rect">
            <a:avLst/>
          </a:prstGeom>
          <a:noFill/>
          <a:ln/>
        </p:spPr>
        <p:txBody>
          <a:bodyPr wrap="square" lIns="0" tIns="0" rIns="0" bIns="0" rtlCol="0" anchor="ctr"/>
          <a:lstStyle/>
          <a:p>
            <a:pPr indent="0" marL="0">
              <a:buNone/>
            </a:pPr>
            <a:r>
              <a:rPr lang="en-US" sz="1500" i="1" dirty="0">
                <a:solidFill>
                  <a:srgbClr val="243447"/>
                </a:solidFill>
                <a:latin typeface="Calibri" pitchFamily="34" charset="0"/>
                <a:ea typeface="Calibri" pitchFamily="34" charset="-122"/>
                <a:cs typeface="Calibri" pitchFamily="34" charset="-120"/>
              </a:rPr>
              <a:t>Specs become the high-level source of truth — the interface between human intent and running systems</a:t>
            </a:r>
            <a:endParaRPr lang="en-US" sz="1500" dirty="0"/>
          </a:p>
        </p:txBody>
      </p:sp>
      <p:sp>
        <p:nvSpPr>
          <p:cNvPr id="5" name="Shape 3"/>
          <p:cNvSpPr/>
          <p:nvPr/>
        </p:nvSpPr>
        <p:spPr>
          <a:xfrm>
            <a:off x="640080" y="1554480"/>
            <a:ext cx="3840480" cy="146304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6" name="Shape 4"/>
          <p:cNvSpPr/>
          <p:nvPr/>
        </p:nvSpPr>
        <p:spPr>
          <a:xfrm>
            <a:off x="640080" y="1554480"/>
            <a:ext cx="3840480" cy="54864"/>
          </a:xfrm>
          <a:prstGeom prst="rect">
            <a:avLst/>
          </a:prstGeom>
          <a:solidFill>
            <a:srgbClr val="E35205"/>
          </a:solidFill>
          <a:ln/>
        </p:spPr>
      </p:sp>
      <p:pic>
        <p:nvPicPr>
          <p:cNvPr id="7" name="Image 0" descr="preencoded.png">    </p:cNvPr>
          <p:cNvPicPr>
            <a:picLocks noChangeAspect="1"/>
          </p:cNvPicPr>
          <p:nvPr/>
        </p:nvPicPr>
        <p:blipFill>
          <a:blip r:embed="rId1"/>
          <a:stretch>
            <a:fillRect/>
          </a:stretch>
        </p:blipFill>
        <p:spPr>
          <a:xfrm>
            <a:off x="868680" y="1828800"/>
            <a:ext cx="365760" cy="365760"/>
          </a:xfrm>
          <a:prstGeom prst="rect">
            <a:avLst/>
          </a:prstGeom>
        </p:spPr>
      </p:pic>
      <p:sp>
        <p:nvSpPr>
          <p:cNvPr id="8" name="Text 5"/>
          <p:cNvSpPr/>
          <p:nvPr/>
        </p:nvSpPr>
        <p:spPr>
          <a:xfrm>
            <a:off x="1371600" y="1828800"/>
            <a:ext cx="2834640" cy="365760"/>
          </a:xfrm>
          <a:prstGeom prst="rect">
            <a:avLst/>
          </a:prstGeom>
          <a:noFill/>
          <a:ln/>
        </p:spPr>
        <p:txBody>
          <a:bodyPr wrap="square" lIns="0" tIns="0" rIns="0" bIns="0" rtlCol="0" anchor="ctr"/>
          <a:lstStyle/>
          <a:p>
            <a:pPr indent="0" marL="0">
              <a:buNone/>
            </a:pPr>
            <a:r>
              <a:rPr lang="en-US" sz="1700" b="1" dirty="0">
                <a:solidFill>
                  <a:srgbClr val="0F1419"/>
                </a:solidFill>
                <a:latin typeface="Calibri" pitchFamily="34" charset="0"/>
                <a:ea typeface="Calibri" pitchFamily="34" charset="-122"/>
                <a:cs typeface="Calibri" pitchFamily="34" charset="-120"/>
              </a:rPr>
              <a:t>Specify Once</a:t>
            </a:r>
            <a:endParaRPr lang="en-US" sz="1700" dirty="0"/>
          </a:p>
        </p:txBody>
      </p:sp>
      <p:sp>
        <p:nvSpPr>
          <p:cNvPr id="9" name="Text 6"/>
          <p:cNvSpPr/>
          <p:nvPr/>
        </p:nvSpPr>
        <p:spPr>
          <a:xfrm>
            <a:off x="868680" y="2331720"/>
            <a:ext cx="3383280" cy="594360"/>
          </a:xfrm>
          <a:prstGeom prst="rect">
            <a:avLst/>
          </a:prstGeom>
          <a:noFill/>
          <a:ln/>
        </p:spPr>
        <p:txBody>
          <a:bodyPr wrap="square" lIns="0" tIns="0" rIns="0" bIns="0" rtlCol="0" anchor="ctr"/>
          <a:lstStyle/>
          <a:p>
            <a:pPr indent="0" marL="0">
              <a:buNone/>
            </a:pPr>
            <a:r>
              <a:rPr lang="en-US" sz="1150" dirty="0">
                <a:solidFill>
                  <a:srgbClr val="243447"/>
                </a:solidFill>
                <a:latin typeface="Calibri" pitchFamily="34" charset="0"/>
                <a:ea typeface="Calibri" pitchFamily="34" charset="-122"/>
                <a:cs typeface="Calibri" pitchFamily="34" charset="-120"/>
              </a:rPr>
              <a:t>Write implementation-agnostic specs covering API, design, and UI. The spec is the source of truth — not code, not tickets</a:t>
            </a:r>
            <a:endParaRPr lang="en-US" sz="1150" dirty="0"/>
          </a:p>
        </p:txBody>
      </p:sp>
      <p:sp>
        <p:nvSpPr>
          <p:cNvPr id="10" name="Shape 7"/>
          <p:cNvSpPr/>
          <p:nvPr/>
        </p:nvSpPr>
        <p:spPr>
          <a:xfrm>
            <a:off x="4800600" y="1554480"/>
            <a:ext cx="3840480" cy="146304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1" name="Shape 8"/>
          <p:cNvSpPr/>
          <p:nvPr/>
        </p:nvSpPr>
        <p:spPr>
          <a:xfrm>
            <a:off x="4800600" y="1554480"/>
            <a:ext cx="3840480" cy="54864"/>
          </a:xfrm>
          <a:prstGeom prst="rect">
            <a:avLst/>
          </a:prstGeom>
          <a:solidFill>
            <a:srgbClr val="E35205"/>
          </a:solidFill>
          <a:ln/>
        </p:spPr>
      </p:sp>
      <p:pic>
        <p:nvPicPr>
          <p:cNvPr id="12" name="Image 1" descr="preencoded.png">    </p:cNvPr>
          <p:cNvPicPr>
            <a:picLocks noChangeAspect="1"/>
          </p:cNvPicPr>
          <p:nvPr/>
        </p:nvPicPr>
        <p:blipFill>
          <a:blip r:embed="rId2"/>
          <a:stretch>
            <a:fillRect/>
          </a:stretch>
        </p:blipFill>
        <p:spPr>
          <a:xfrm>
            <a:off x="5029200" y="1828800"/>
            <a:ext cx="365760" cy="365760"/>
          </a:xfrm>
          <a:prstGeom prst="rect">
            <a:avLst/>
          </a:prstGeom>
        </p:spPr>
      </p:pic>
      <p:sp>
        <p:nvSpPr>
          <p:cNvPr id="13" name="Text 9"/>
          <p:cNvSpPr/>
          <p:nvPr/>
        </p:nvSpPr>
        <p:spPr>
          <a:xfrm>
            <a:off x="5532120" y="1828800"/>
            <a:ext cx="2834640" cy="365760"/>
          </a:xfrm>
          <a:prstGeom prst="rect">
            <a:avLst/>
          </a:prstGeom>
          <a:noFill/>
          <a:ln/>
        </p:spPr>
        <p:txBody>
          <a:bodyPr wrap="square" lIns="0" tIns="0" rIns="0" bIns="0" rtlCol="0" anchor="ctr"/>
          <a:lstStyle/>
          <a:p>
            <a:pPr indent="0" marL="0">
              <a:buNone/>
            </a:pPr>
            <a:r>
              <a:rPr lang="en-US" sz="1700" b="1" dirty="0">
                <a:solidFill>
                  <a:srgbClr val="0F1419"/>
                </a:solidFill>
                <a:latin typeface="Calibri" pitchFamily="34" charset="0"/>
                <a:ea typeface="Calibri" pitchFamily="34" charset="-122"/>
                <a:cs typeface="Calibri" pitchFamily="34" charset="-120"/>
              </a:rPr>
              <a:t>Bootstrap from Spec</a:t>
            </a:r>
            <a:endParaRPr lang="en-US" sz="1700" dirty="0"/>
          </a:p>
        </p:txBody>
      </p:sp>
      <p:sp>
        <p:nvSpPr>
          <p:cNvPr id="14" name="Text 10"/>
          <p:cNvSpPr/>
          <p:nvPr/>
        </p:nvSpPr>
        <p:spPr>
          <a:xfrm>
            <a:off x="5029200" y="2331720"/>
            <a:ext cx="3383280" cy="594360"/>
          </a:xfrm>
          <a:prstGeom prst="rect">
            <a:avLst/>
          </a:prstGeom>
          <a:noFill/>
          <a:ln/>
        </p:spPr>
        <p:txBody>
          <a:bodyPr wrap="square" lIns="0" tIns="0" rIns="0" bIns="0" rtlCol="0" anchor="ctr"/>
          <a:lstStyle/>
          <a:p>
            <a:pPr indent="0" marL="0">
              <a:buNone/>
            </a:pPr>
            <a:r>
              <a:rPr lang="en-US" sz="1150" dirty="0">
                <a:solidFill>
                  <a:srgbClr val="243447"/>
                </a:solidFill>
                <a:latin typeface="Calibri" pitchFamily="34" charset="0"/>
                <a:ea typeface="Calibri" pitchFamily="34" charset="-122"/>
                <a:cs typeface="Calibri" pitchFamily="34" charset="-120"/>
              </a:rPr>
              <a:t>Hand the same spec to different AI models. Each produces a full initial implementation from the same intent</a:t>
            </a:r>
            <a:endParaRPr lang="en-US" sz="1150" dirty="0"/>
          </a:p>
        </p:txBody>
      </p:sp>
      <p:sp>
        <p:nvSpPr>
          <p:cNvPr id="15" name="Shape 11"/>
          <p:cNvSpPr/>
          <p:nvPr/>
        </p:nvSpPr>
        <p:spPr>
          <a:xfrm>
            <a:off x="640080" y="3246120"/>
            <a:ext cx="3840480" cy="146304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6" name="Shape 12"/>
          <p:cNvSpPr/>
          <p:nvPr/>
        </p:nvSpPr>
        <p:spPr>
          <a:xfrm>
            <a:off x="640080" y="3246120"/>
            <a:ext cx="3840480" cy="54864"/>
          </a:xfrm>
          <a:prstGeom prst="rect">
            <a:avLst/>
          </a:prstGeom>
          <a:solidFill>
            <a:srgbClr val="E35205"/>
          </a:solidFill>
          <a:ln/>
        </p:spPr>
      </p:sp>
      <p:pic>
        <p:nvPicPr>
          <p:cNvPr id="17" name="Image 2" descr="preencoded.png">    </p:cNvPr>
          <p:cNvPicPr>
            <a:picLocks noChangeAspect="1"/>
          </p:cNvPicPr>
          <p:nvPr/>
        </p:nvPicPr>
        <p:blipFill>
          <a:blip r:embed="rId3"/>
          <a:stretch>
            <a:fillRect/>
          </a:stretch>
        </p:blipFill>
        <p:spPr>
          <a:xfrm>
            <a:off x="868680" y="3520440"/>
            <a:ext cx="365760" cy="365760"/>
          </a:xfrm>
          <a:prstGeom prst="rect">
            <a:avLst/>
          </a:prstGeom>
        </p:spPr>
      </p:pic>
      <p:sp>
        <p:nvSpPr>
          <p:cNvPr id="18" name="Text 13"/>
          <p:cNvSpPr/>
          <p:nvPr/>
        </p:nvSpPr>
        <p:spPr>
          <a:xfrm>
            <a:off x="1371600" y="3520440"/>
            <a:ext cx="2834640" cy="365760"/>
          </a:xfrm>
          <a:prstGeom prst="rect">
            <a:avLst/>
          </a:prstGeom>
          <a:noFill/>
          <a:ln/>
        </p:spPr>
        <p:txBody>
          <a:bodyPr wrap="square" lIns="0" tIns="0" rIns="0" bIns="0" rtlCol="0" anchor="ctr"/>
          <a:lstStyle/>
          <a:p>
            <a:pPr indent="0" marL="0">
              <a:buNone/>
            </a:pPr>
            <a:r>
              <a:rPr lang="en-US" sz="1700" b="1" dirty="0">
                <a:solidFill>
                  <a:srgbClr val="0F1419"/>
                </a:solidFill>
                <a:latin typeface="Calibri" pitchFamily="34" charset="0"/>
                <a:ea typeface="Calibri" pitchFamily="34" charset="-122"/>
                <a:cs typeface="Calibri" pitchFamily="34" charset="-120"/>
              </a:rPr>
              <a:t>Drive Changes via Spec</a:t>
            </a:r>
            <a:endParaRPr lang="en-US" sz="1700" dirty="0"/>
          </a:p>
        </p:txBody>
      </p:sp>
      <p:sp>
        <p:nvSpPr>
          <p:cNvPr id="19" name="Text 14"/>
          <p:cNvSpPr/>
          <p:nvPr/>
        </p:nvSpPr>
        <p:spPr>
          <a:xfrm>
            <a:off x="868680" y="4023360"/>
            <a:ext cx="3383280" cy="594360"/>
          </a:xfrm>
          <a:prstGeom prst="rect">
            <a:avLst/>
          </a:prstGeom>
          <a:noFill/>
          <a:ln/>
        </p:spPr>
        <p:txBody>
          <a:bodyPr wrap="square" lIns="0" tIns="0" rIns="0" bIns="0" rtlCol="0" anchor="ctr"/>
          <a:lstStyle/>
          <a:p>
            <a:pPr indent="0" marL="0">
              <a:buNone/>
            </a:pPr>
            <a:r>
              <a:rPr lang="en-US" sz="1150" dirty="0">
                <a:solidFill>
                  <a:srgbClr val="243447"/>
                </a:solidFill>
                <a:latin typeface="Calibri" pitchFamily="34" charset="0"/>
                <a:ea typeface="Calibri" pitchFamily="34" charset="-122"/>
                <a:cs typeface="Calibri" pitchFamily="34" charset="-120"/>
              </a:rPr>
              <a:t>You can't regenerate production apps. But you can update the spec and use it to drive targeted changes to a running system</a:t>
            </a:r>
            <a:endParaRPr lang="en-US" sz="1150" dirty="0"/>
          </a:p>
        </p:txBody>
      </p:sp>
      <p:sp>
        <p:nvSpPr>
          <p:cNvPr id="20" name="Shape 15"/>
          <p:cNvSpPr/>
          <p:nvPr/>
        </p:nvSpPr>
        <p:spPr>
          <a:xfrm>
            <a:off x="4800600" y="3246120"/>
            <a:ext cx="3840480" cy="146304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21" name="Shape 16"/>
          <p:cNvSpPr/>
          <p:nvPr/>
        </p:nvSpPr>
        <p:spPr>
          <a:xfrm>
            <a:off x="4800600" y="3246120"/>
            <a:ext cx="3840480" cy="54864"/>
          </a:xfrm>
          <a:prstGeom prst="rect">
            <a:avLst/>
          </a:prstGeom>
          <a:solidFill>
            <a:srgbClr val="E35205"/>
          </a:solidFill>
          <a:ln/>
        </p:spPr>
      </p:sp>
      <p:pic>
        <p:nvPicPr>
          <p:cNvPr id="22" name="Image 3" descr="preencoded.png">    </p:cNvPr>
          <p:cNvPicPr>
            <a:picLocks noChangeAspect="1"/>
          </p:cNvPicPr>
          <p:nvPr/>
        </p:nvPicPr>
        <p:blipFill>
          <a:blip r:embed="rId4"/>
          <a:stretch>
            <a:fillRect/>
          </a:stretch>
        </p:blipFill>
        <p:spPr>
          <a:xfrm>
            <a:off x="5029200" y="3520440"/>
            <a:ext cx="365760" cy="365760"/>
          </a:xfrm>
          <a:prstGeom prst="rect">
            <a:avLst/>
          </a:prstGeom>
        </p:spPr>
      </p:pic>
      <p:sp>
        <p:nvSpPr>
          <p:cNvPr id="23" name="Text 17"/>
          <p:cNvSpPr/>
          <p:nvPr/>
        </p:nvSpPr>
        <p:spPr>
          <a:xfrm>
            <a:off x="5532120" y="3520440"/>
            <a:ext cx="2834640" cy="365760"/>
          </a:xfrm>
          <a:prstGeom prst="rect">
            <a:avLst/>
          </a:prstGeom>
          <a:noFill/>
          <a:ln/>
        </p:spPr>
        <p:txBody>
          <a:bodyPr wrap="square" lIns="0" tIns="0" rIns="0" bIns="0" rtlCol="0" anchor="ctr"/>
          <a:lstStyle/>
          <a:p>
            <a:pPr indent="0" marL="0">
              <a:buNone/>
            </a:pPr>
            <a:r>
              <a:rPr lang="en-US" sz="1700" b="1" dirty="0">
                <a:solidFill>
                  <a:srgbClr val="0F1419"/>
                </a:solidFill>
                <a:latin typeface="Calibri" pitchFamily="34" charset="0"/>
                <a:ea typeface="Calibri" pitchFamily="34" charset="-122"/>
                <a:cs typeface="Calibri" pitchFamily="34" charset="-120"/>
              </a:rPr>
              <a:t>Compare Outputs</a:t>
            </a:r>
            <a:endParaRPr lang="en-US" sz="1700" dirty="0"/>
          </a:p>
        </p:txBody>
      </p:sp>
      <p:sp>
        <p:nvSpPr>
          <p:cNvPr id="24" name="Text 18"/>
          <p:cNvSpPr/>
          <p:nvPr/>
        </p:nvSpPr>
        <p:spPr>
          <a:xfrm>
            <a:off x="5029200" y="4023360"/>
            <a:ext cx="3383280" cy="594360"/>
          </a:xfrm>
          <a:prstGeom prst="rect">
            <a:avLst/>
          </a:prstGeom>
          <a:noFill/>
          <a:ln/>
        </p:spPr>
        <p:txBody>
          <a:bodyPr wrap="square" lIns="0" tIns="0" rIns="0" bIns="0" rtlCol="0" anchor="ctr"/>
          <a:lstStyle/>
          <a:p>
            <a:pPr indent="0" marL="0">
              <a:buNone/>
            </a:pPr>
            <a:r>
              <a:rPr lang="en-US" sz="1150" dirty="0">
                <a:solidFill>
                  <a:srgbClr val="243447"/>
                </a:solidFill>
                <a:latin typeface="Calibri" pitchFamily="34" charset="0"/>
                <a:ea typeface="Calibri" pitchFamily="34" charset="-122"/>
                <a:cs typeface="Calibri" pitchFamily="34" charset="-120"/>
              </a:rPr>
              <a:t>Evaluate implementations side-by-side on code quality, UI fidelity, and completeness against the single source of truth</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320040"/>
            <a:ext cx="5029200" cy="1371600"/>
          </a:xfrm>
          <a:prstGeom prst="rect">
            <a:avLst/>
          </a:prstGeom>
          <a:noFill/>
          <a:ln/>
        </p:spPr>
        <p:txBody>
          <a:bodyPr wrap="square" lIns="0" tIns="0" rIns="0" bIns="0" rtlCol="0" anchor="ctr"/>
          <a:lstStyle/>
          <a:p>
            <a:pPr indent="0" marL="0">
              <a:lnSpc>
                <a:spcPct val="110000"/>
              </a:lnSpc>
              <a:buNone/>
            </a:pPr>
            <a:r>
              <a:rPr lang="en-US" sz="4200" b="1" dirty="0">
                <a:solidFill>
                  <a:srgbClr val="FFFFFF"/>
                </a:solidFill>
                <a:latin typeface="Georgia" pitchFamily="34" charset="0"/>
                <a:ea typeface="Georgia" pitchFamily="34" charset="-122"/>
                <a:cs typeface="Georgia" pitchFamily="34" charset="-120"/>
              </a:rPr>
              <a:t>Write Specs for</a:t>
            </a:r>
            <a:endParaRPr lang="en-US" sz="4200" dirty="0"/>
          </a:p>
          <a:p>
            <a:pPr indent="0" marL="0">
              <a:lnSpc>
                <a:spcPct val="110000"/>
              </a:lnSpc>
              <a:buNone/>
            </a:pPr>
            <a:r>
              <a:rPr lang="en-US" sz="4200" b="1" dirty="0">
                <a:solidFill>
                  <a:srgbClr val="FFFFFF"/>
                </a:solidFill>
                <a:latin typeface="Georgia" pitchFamily="34" charset="0"/>
                <a:ea typeface="Georgia" pitchFamily="34" charset="-122"/>
                <a:cs typeface="Georgia" pitchFamily="34" charset="-120"/>
              </a:rPr>
              <a:t>Future Models</a:t>
            </a:r>
            <a:endParaRPr lang="en-US" sz="4200" dirty="0"/>
          </a:p>
        </p:txBody>
      </p:sp>
      <p:sp>
        <p:nvSpPr>
          <p:cNvPr id="4" name="Text 2"/>
          <p:cNvSpPr/>
          <p:nvPr/>
        </p:nvSpPr>
        <p:spPr>
          <a:xfrm>
            <a:off x="640080" y="1737360"/>
            <a:ext cx="5029200" cy="457200"/>
          </a:xfrm>
          <a:prstGeom prst="rect">
            <a:avLst/>
          </a:prstGeom>
          <a:noFill/>
          <a:ln/>
        </p:spPr>
        <p:txBody>
          <a:bodyPr wrap="square" lIns="0" tIns="0" rIns="0" bIns="0" rtlCol="0" anchor="ctr"/>
          <a:lstStyle/>
          <a:p>
            <a:pPr indent="0" marL="0">
              <a:buNone/>
            </a:pPr>
            <a:r>
              <a:rPr lang="en-US" sz="1700" i="1" dirty="0">
                <a:solidFill>
                  <a:srgbClr val="E35205"/>
                </a:solidFill>
                <a:latin typeface="Calibri" pitchFamily="34" charset="0"/>
                <a:ea typeface="Calibri" pitchFamily="34" charset="-122"/>
                <a:cs typeface="Calibri" pitchFamily="34" charset="-120"/>
              </a:rPr>
              <a:t>Today's models are the worst models you'll ever use.</a:t>
            </a:r>
            <a:endParaRPr lang="en-US" sz="1700" dirty="0"/>
          </a:p>
        </p:txBody>
      </p:sp>
      <p:sp>
        <p:nvSpPr>
          <p:cNvPr id="5" name="Shape 3"/>
          <p:cNvSpPr/>
          <p:nvPr/>
        </p:nvSpPr>
        <p:spPr>
          <a:xfrm>
            <a:off x="5852160" y="411480"/>
            <a:ext cx="2926080" cy="118872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6" name="Shape 4"/>
          <p:cNvSpPr/>
          <p:nvPr/>
        </p:nvSpPr>
        <p:spPr>
          <a:xfrm>
            <a:off x="5852160" y="411480"/>
            <a:ext cx="64008" cy="1188720"/>
          </a:xfrm>
          <a:prstGeom prst="rect">
            <a:avLst/>
          </a:prstGeom>
          <a:solidFill>
            <a:srgbClr val="E35205"/>
          </a:solidFill>
          <a:ln/>
        </p:spPr>
      </p:sp>
      <p:sp>
        <p:nvSpPr>
          <p:cNvPr id="7" name="Text 5"/>
          <p:cNvSpPr/>
          <p:nvPr/>
        </p:nvSpPr>
        <p:spPr>
          <a:xfrm>
            <a:off x="6080760" y="548640"/>
            <a:ext cx="2468880" cy="274320"/>
          </a:xfrm>
          <a:prstGeom prst="rect">
            <a:avLst/>
          </a:prstGeom>
          <a:noFill/>
          <a:ln/>
        </p:spPr>
        <p:txBody>
          <a:bodyPr wrap="square" lIns="0" tIns="0" rIns="0" bIns="0" rtlCol="0" anchor="ctr"/>
          <a:lstStyle/>
          <a:p>
            <a:pPr indent="0" marL="0">
              <a:buNone/>
            </a:pPr>
            <a:r>
              <a:rPr lang="en-US" sz="1400" b="1" dirty="0">
                <a:solidFill>
                  <a:srgbClr val="E35205"/>
                </a:solidFill>
                <a:latin typeface="Calibri" pitchFamily="34" charset="0"/>
                <a:ea typeface="Calibri" pitchFamily="34" charset="-122"/>
                <a:cs typeface="Calibri" pitchFamily="34" charset="-120"/>
              </a:rPr>
              <a:t>Today</a:t>
            </a:r>
            <a:endParaRPr lang="en-US" sz="1400" dirty="0"/>
          </a:p>
        </p:txBody>
      </p:sp>
      <p:sp>
        <p:nvSpPr>
          <p:cNvPr id="8" name="Text 6"/>
          <p:cNvSpPr/>
          <p:nvPr/>
        </p:nvSpPr>
        <p:spPr>
          <a:xfrm>
            <a:off x="6080760" y="868680"/>
            <a:ext cx="2468880" cy="64008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Models need detailed guidance, explicit patterns, and careful prompting</a:t>
            </a:r>
            <a:endParaRPr lang="en-US" sz="1050" dirty="0"/>
          </a:p>
        </p:txBody>
      </p:sp>
      <p:sp>
        <p:nvSpPr>
          <p:cNvPr id="9" name="Shape 7"/>
          <p:cNvSpPr/>
          <p:nvPr/>
        </p:nvSpPr>
        <p:spPr>
          <a:xfrm>
            <a:off x="5852160" y="1874520"/>
            <a:ext cx="2926080" cy="118872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10" name="Shape 8"/>
          <p:cNvSpPr/>
          <p:nvPr/>
        </p:nvSpPr>
        <p:spPr>
          <a:xfrm>
            <a:off x="5852160" y="1874520"/>
            <a:ext cx="64008" cy="1188720"/>
          </a:xfrm>
          <a:prstGeom prst="rect">
            <a:avLst/>
          </a:prstGeom>
          <a:solidFill>
            <a:srgbClr val="7FCBD3"/>
          </a:solidFill>
          <a:ln/>
        </p:spPr>
      </p:sp>
      <p:sp>
        <p:nvSpPr>
          <p:cNvPr id="11" name="Text 9"/>
          <p:cNvSpPr/>
          <p:nvPr/>
        </p:nvSpPr>
        <p:spPr>
          <a:xfrm>
            <a:off x="6080760" y="2011680"/>
            <a:ext cx="2468880" cy="274320"/>
          </a:xfrm>
          <a:prstGeom prst="rect">
            <a:avLst/>
          </a:prstGeom>
          <a:noFill/>
          <a:ln/>
        </p:spPr>
        <p:txBody>
          <a:bodyPr wrap="square" lIns="0" tIns="0" rIns="0" bIns="0" rtlCol="0" anchor="ctr"/>
          <a:lstStyle/>
          <a:p>
            <a:pPr indent="0" marL="0">
              <a:buNone/>
            </a:pPr>
            <a:r>
              <a:rPr lang="en-US" sz="1400" b="1" dirty="0">
                <a:solidFill>
                  <a:srgbClr val="7FCBD3"/>
                </a:solidFill>
                <a:latin typeface="Calibri" pitchFamily="34" charset="0"/>
                <a:ea typeface="Calibri" pitchFamily="34" charset="-122"/>
                <a:cs typeface="Calibri" pitchFamily="34" charset="-120"/>
              </a:rPr>
              <a:t>Soon</a:t>
            </a:r>
            <a:endParaRPr lang="en-US" sz="1400" dirty="0"/>
          </a:p>
        </p:txBody>
      </p:sp>
      <p:sp>
        <p:nvSpPr>
          <p:cNvPr id="12" name="Text 10"/>
          <p:cNvSpPr/>
          <p:nvPr/>
        </p:nvSpPr>
        <p:spPr>
          <a:xfrm>
            <a:off x="6080760" y="2331720"/>
            <a:ext cx="2468880" cy="64008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Models will infer architecture from intent, fill gaps in specs autonomously</a:t>
            </a:r>
            <a:endParaRPr lang="en-US" sz="1050" dirty="0"/>
          </a:p>
        </p:txBody>
      </p:sp>
      <p:sp>
        <p:nvSpPr>
          <p:cNvPr id="13" name="Shape 11"/>
          <p:cNvSpPr/>
          <p:nvPr/>
        </p:nvSpPr>
        <p:spPr>
          <a:xfrm>
            <a:off x="5852160" y="3337560"/>
            <a:ext cx="2926080" cy="118872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14" name="Shape 12"/>
          <p:cNvSpPr/>
          <p:nvPr/>
        </p:nvSpPr>
        <p:spPr>
          <a:xfrm>
            <a:off x="5852160" y="3337560"/>
            <a:ext cx="64008" cy="1188720"/>
          </a:xfrm>
          <a:prstGeom prst="rect">
            <a:avLst/>
          </a:prstGeom>
          <a:solidFill>
            <a:srgbClr val="00A37A"/>
          </a:solidFill>
          <a:ln/>
        </p:spPr>
      </p:sp>
      <p:sp>
        <p:nvSpPr>
          <p:cNvPr id="15" name="Text 13"/>
          <p:cNvSpPr/>
          <p:nvPr/>
        </p:nvSpPr>
        <p:spPr>
          <a:xfrm>
            <a:off x="6080760" y="3474720"/>
            <a:ext cx="2468880" cy="274320"/>
          </a:xfrm>
          <a:prstGeom prst="rect">
            <a:avLst/>
          </a:prstGeom>
          <a:noFill/>
          <a:ln/>
        </p:spPr>
        <p:txBody>
          <a:bodyPr wrap="square" lIns="0" tIns="0" rIns="0" bIns="0" rtlCol="0" anchor="ctr"/>
          <a:lstStyle/>
          <a:p>
            <a:pPr indent="0" marL="0">
              <a:buNone/>
            </a:pPr>
            <a:r>
              <a:rPr lang="en-US" sz="1400" b="1" dirty="0">
                <a:solidFill>
                  <a:srgbClr val="00A37A"/>
                </a:solidFill>
                <a:latin typeface="Calibri" pitchFamily="34" charset="0"/>
                <a:ea typeface="Calibri" pitchFamily="34" charset="-122"/>
                <a:cs typeface="Calibri" pitchFamily="34" charset="-120"/>
              </a:rPr>
              <a:t>Eventually</a:t>
            </a:r>
            <a:endParaRPr lang="en-US" sz="1400" dirty="0"/>
          </a:p>
        </p:txBody>
      </p:sp>
      <p:sp>
        <p:nvSpPr>
          <p:cNvPr id="16" name="Text 14"/>
          <p:cNvSpPr/>
          <p:nvPr/>
        </p:nvSpPr>
        <p:spPr>
          <a:xfrm>
            <a:off x="6080760" y="3794760"/>
            <a:ext cx="2468880" cy="64008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 high-level spec becomes a full production system with minimal human steering</a:t>
            </a:r>
            <a:endParaRPr lang="en-US" sz="1050" dirty="0"/>
          </a:p>
        </p:txBody>
      </p:sp>
      <p:sp>
        <p:nvSpPr>
          <p:cNvPr id="17" name="Shape 15"/>
          <p:cNvSpPr/>
          <p:nvPr/>
        </p:nvSpPr>
        <p:spPr>
          <a:xfrm>
            <a:off x="640080" y="4572000"/>
            <a:ext cx="7863840" cy="2743"/>
          </a:xfrm>
          <a:prstGeom prst="rect">
            <a:avLst/>
          </a:prstGeom>
          <a:solidFill>
            <a:srgbClr val="243447"/>
          </a:solidFill>
          <a:ln/>
        </p:spPr>
      </p:sp>
      <p:sp>
        <p:nvSpPr>
          <p:cNvPr id="18" name="Text 16"/>
          <p:cNvSpPr/>
          <p:nvPr/>
        </p:nvSpPr>
        <p:spPr>
          <a:xfrm>
            <a:off x="640080" y="2423160"/>
            <a:ext cx="4754880" cy="10972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well-written spec is an appreciating asset. </a:t>
            </a:r>
            <a:pPr indent="0" marL="0">
              <a:buNone/>
            </a:pPr>
            <a:r>
              <a:rPr lang="en-US" sz="1300" dirty="0">
                <a:solidFill>
                  <a:srgbClr val="CBD5E1"/>
                </a:solidFill>
                <a:latin typeface="Calibri" pitchFamily="34" charset="0"/>
                <a:ea typeface="Calibri" pitchFamily="34" charset="-122"/>
                <a:cs typeface="Calibri" pitchFamily="34" charset="-120"/>
              </a:rPr>
              <a:t>Every model upgrade makes your existing specs produce better implementations — without changing a single line.</a:t>
            </a:r>
            <a:endParaRPr lang="en-US" sz="1300" dirty="0"/>
          </a:p>
        </p:txBody>
      </p:sp>
      <p:sp>
        <p:nvSpPr>
          <p:cNvPr id="19" name="Shape 17"/>
          <p:cNvSpPr/>
          <p:nvPr/>
        </p:nvSpPr>
        <p:spPr>
          <a:xfrm>
            <a:off x="640080" y="3749040"/>
            <a:ext cx="3840480" cy="100584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20" name="Shape 18"/>
          <p:cNvSpPr/>
          <p:nvPr/>
        </p:nvSpPr>
        <p:spPr>
          <a:xfrm>
            <a:off x="640080" y="3749040"/>
            <a:ext cx="3840480" cy="45720"/>
          </a:xfrm>
          <a:prstGeom prst="rect">
            <a:avLst/>
          </a:prstGeom>
          <a:solidFill>
            <a:srgbClr val="E35205"/>
          </a:solidFill>
          <a:ln/>
        </p:spPr>
      </p:sp>
      <p:sp>
        <p:nvSpPr>
          <p:cNvPr id="21" name="Text 19"/>
          <p:cNvSpPr/>
          <p:nvPr/>
        </p:nvSpPr>
        <p:spPr>
          <a:xfrm>
            <a:off x="868680" y="3840480"/>
            <a:ext cx="3383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Spec for intent, not for capability</a:t>
            </a:r>
            <a:endParaRPr lang="en-US" sz="1300" dirty="0"/>
          </a:p>
        </p:txBody>
      </p:sp>
      <p:sp>
        <p:nvSpPr>
          <p:cNvPr id="22" name="Text 20"/>
          <p:cNvSpPr/>
          <p:nvPr/>
        </p:nvSpPr>
        <p:spPr>
          <a:xfrm>
            <a:off x="868680" y="4160520"/>
            <a:ext cx="3383280"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Don't dumb down specs to match what today's models can handle. Write what you actually want — future models will close the gap</a:t>
            </a:r>
            <a:endParaRPr lang="en-US" sz="1050" dirty="0"/>
          </a:p>
        </p:txBody>
      </p:sp>
      <p:sp>
        <p:nvSpPr>
          <p:cNvPr id="23" name="Shape 21"/>
          <p:cNvSpPr/>
          <p:nvPr/>
        </p:nvSpPr>
        <p:spPr>
          <a:xfrm>
            <a:off x="4800600" y="3749040"/>
            <a:ext cx="3840480" cy="100584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24" name="Shape 22"/>
          <p:cNvSpPr/>
          <p:nvPr/>
        </p:nvSpPr>
        <p:spPr>
          <a:xfrm>
            <a:off x="4800600" y="3749040"/>
            <a:ext cx="3840480" cy="45720"/>
          </a:xfrm>
          <a:prstGeom prst="rect">
            <a:avLst/>
          </a:prstGeom>
          <a:solidFill>
            <a:srgbClr val="E35205"/>
          </a:solidFill>
          <a:ln/>
        </p:spPr>
      </p:sp>
      <p:sp>
        <p:nvSpPr>
          <p:cNvPr id="25" name="Text 23"/>
          <p:cNvSpPr/>
          <p:nvPr/>
        </p:nvSpPr>
        <p:spPr>
          <a:xfrm>
            <a:off x="5029200" y="3840480"/>
            <a:ext cx="33832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Specs outlive models</a:t>
            </a:r>
            <a:endParaRPr lang="en-US" sz="1300" dirty="0"/>
          </a:p>
        </p:txBody>
      </p:sp>
      <p:sp>
        <p:nvSpPr>
          <p:cNvPr id="26" name="Text 24"/>
          <p:cNvSpPr/>
          <p:nvPr/>
        </p:nvSpPr>
        <p:spPr>
          <a:xfrm>
            <a:off x="5029200" y="4160520"/>
            <a:ext cx="3383280"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Models are ephemeral — a new one drops every quarter. Your specs persist. They carry your product knowledge forward across every generation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27432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 Spec Architecture</a:t>
            </a:r>
            <a:endParaRPr lang="en-US" sz="3600" dirty="0"/>
          </a:p>
        </p:txBody>
      </p:sp>
      <p:sp>
        <p:nvSpPr>
          <p:cNvPr id="4" name="Text 2"/>
          <p:cNvSpPr/>
          <p:nvPr/>
        </p:nvSpPr>
        <p:spPr>
          <a:xfrm>
            <a:off x="640080" y="868680"/>
            <a:ext cx="7315200"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Five interconnected documents define the entire product</a:t>
            </a:r>
            <a:endParaRPr lang="en-US" sz="1500" dirty="0"/>
          </a:p>
        </p:txBody>
      </p:sp>
      <p:sp>
        <p:nvSpPr>
          <p:cNvPr id="5" name="Shape 3"/>
          <p:cNvSpPr/>
          <p:nvPr/>
        </p:nvSpPr>
        <p:spPr>
          <a:xfrm>
            <a:off x="640080" y="1463040"/>
            <a:ext cx="2560320" cy="1508760"/>
          </a:xfrm>
          <a:prstGeom prst="rect">
            <a:avLst/>
          </a:prstGeom>
          <a:solidFill>
            <a:srgbClr val="1A2332"/>
          </a:solidFill>
          <a:ln/>
          <a:effectLst>
            <a:outerShdw sx="100000" sy="100000" kx="0" ky="0" algn="bl" rotWithShape="0" blurRad="101600" dist="38100" dir="81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868680" y="1645920"/>
            <a:ext cx="365760" cy="365760"/>
          </a:xfrm>
          <a:prstGeom prst="rect">
            <a:avLst/>
          </a:prstGeom>
        </p:spPr>
      </p:pic>
      <p:sp>
        <p:nvSpPr>
          <p:cNvPr id="7" name="Text 4"/>
          <p:cNvSpPr/>
          <p:nvPr/>
        </p:nvSpPr>
        <p:spPr>
          <a:xfrm>
            <a:off x="1325880" y="1645920"/>
            <a:ext cx="1645920" cy="365760"/>
          </a:xfrm>
          <a:prstGeom prst="rect">
            <a:avLst/>
          </a:prstGeom>
          <a:noFill/>
          <a:ln/>
        </p:spPr>
        <p:txBody>
          <a:bodyPr wrap="square" lIns="0" tIns="0" rIns="0" bIns="0" rtlCol="0" anchor="ctr"/>
          <a:lstStyle/>
          <a:p>
            <a:pPr indent="0" marL="0">
              <a:buNone/>
            </a:pPr>
            <a:r>
              <a:rPr lang="en-US" sz="1400" b="1" dirty="0">
                <a:solidFill>
                  <a:srgbClr val="FFC57F"/>
                </a:solidFill>
                <a:latin typeface="Calibri" pitchFamily="34" charset="0"/>
                <a:ea typeface="Calibri" pitchFamily="34" charset="-122"/>
                <a:cs typeface="Calibri" pitchFamily="34" charset="-120"/>
              </a:rPr>
              <a:t>spec.md</a:t>
            </a:r>
            <a:endParaRPr lang="en-US" sz="1400" dirty="0"/>
          </a:p>
        </p:txBody>
      </p:sp>
      <p:sp>
        <p:nvSpPr>
          <p:cNvPr id="8" name="Text 5"/>
          <p:cNvSpPr/>
          <p:nvPr/>
        </p:nvSpPr>
        <p:spPr>
          <a:xfrm>
            <a:off x="868680" y="2148840"/>
            <a:ext cx="2103120" cy="7315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Master overview</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7-step journey map</a:t>
            </a:r>
            <a:endParaRPr lang="en-US" sz="1100" dirty="0"/>
          </a:p>
        </p:txBody>
      </p:sp>
      <p:sp>
        <p:nvSpPr>
          <p:cNvPr id="9" name="Shape 6"/>
          <p:cNvSpPr/>
          <p:nvPr/>
        </p:nvSpPr>
        <p:spPr>
          <a:xfrm>
            <a:off x="3429000" y="1463040"/>
            <a:ext cx="2560320" cy="1508760"/>
          </a:xfrm>
          <a:prstGeom prst="rect">
            <a:avLst/>
          </a:prstGeom>
          <a:solidFill>
            <a:srgbClr val="1A2332"/>
          </a:solidFill>
          <a:ln/>
          <a:effectLst>
            <a:outerShdw sx="100000" sy="100000" kx="0" ky="0" algn="bl" rotWithShape="0" blurRad="101600" dist="38100" dir="81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3657600" y="1645920"/>
            <a:ext cx="365760" cy="365760"/>
          </a:xfrm>
          <a:prstGeom prst="rect">
            <a:avLst/>
          </a:prstGeom>
        </p:spPr>
      </p:pic>
      <p:sp>
        <p:nvSpPr>
          <p:cNvPr id="11" name="Text 7"/>
          <p:cNvSpPr/>
          <p:nvPr/>
        </p:nvSpPr>
        <p:spPr>
          <a:xfrm>
            <a:off x="4114800" y="1645920"/>
            <a:ext cx="1645920" cy="365760"/>
          </a:xfrm>
          <a:prstGeom prst="rect">
            <a:avLst/>
          </a:prstGeom>
          <a:noFill/>
          <a:ln/>
        </p:spPr>
        <p:txBody>
          <a:bodyPr wrap="square" lIns="0" tIns="0" rIns="0" bIns="0" rtlCol="0" anchor="ctr"/>
          <a:lstStyle/>
          <a:p>
            <a:pPr indent="0" marL="0">
              <a:buNone/>
            </a:pPr>
            <a:r>
              <a:rPr lang="en-US" sz="1400" b="1" dirty="0">
                <a:solidFill>
                  <a:srgbClr val="FFC57F"/>
                </a:solidFill>
                <a:latin typeface="Calibri" pitchFamily="34" charset="0"/>
                <a:ea typeface="Calibri" pitchFamily="34" charset="-122"/>
                <a:cs typeface="Calibri" pitchFamily="34" charset="-120"/>
              </a:rPr>
              <a:t>spec-api.md</a:t>
            </a:r>
            <a:endParaRPr lang="en-US" sz="1400" dirty="0"/>
          </a:p>
        </p:txBody>
      </p:sp>
      <p:sp>
        <p:nvSpPr>
          <p:cNvPr id="12" name="Text 8"/>
          <p:cNvSpPr/>
          <p:nvPr/>
        </p:nvSpPr>
        <p:spPr>
          <a:xfrm>
            <a:off x="3657600" y="2148840"/>
            <a:ext cx="2103120" cy="7315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GraphQL queries, types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Stateless BookingPayload</a:t>
            </a:r>
            <a:endParaRPr lang="en-US" sz="1100" dirty="0"/>
          </a:p>
        </p:txBody>
      </p:sp>
      <p:sp>
        <p:nvSpPr>
          <p:cNvPr id="13" name="Shape 9"/>
          <p:cNvSpPr/>
          <p:nvPr/>
        </p:nvSpPr>
        <p:spPr>
          <a:xfrm>
            <a:off x="6217920" y="1463040"/>
            <a:ext cx="2560320" cy="1508760"/>
          </a:xfrm>
          <a:prstGeom prst="rect">
            <a:avLst/>
          </a:prstGeom>
          <a:solidFill>
            <a:srgbClr val="1A2332"/>
          </a:solidFill>
          <a:ln/>
          <a:effectLst>
            <a:outerShdw sx="100000" sy="100000" kx="0" ky="0" algn="bl" rotWithShape="0" blurRad="101600" dist="38100" dir="81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6446520" y="1645920"/>
            <a:ext cx="365760" cy="365760"/>
          </a:xfrm>
          <a:prstGeom prst="rect">
            <a:avLst/>
          </a:prstGeom>
        </p:spPr>
      </p:pic>
      <p:sp>
        <p:nvSpPr>
          <p:cNvPr id="15" name="Text 10"/>
          <p:cNvSpPr/>
          <p:nvPr/>
        </p:nvSpPr>
        <p:spPr>
          <a:xfrm>
            <a:off x="6903720" y="1645920"/>
            <a:ext cx="1645920" cy="365760"/>
          </a:xfrm>
          <a:prstGeom prst="rect">
            <a:avLst/>
          </a:prstGeom>
          <a:noFill/>
          <a:ln/>
        </p:spPr>
        <p:txBody>
          <a:bodyPr wrap="square" lIns="0" tIns="0" rIns="0" bIns="0" rtlCol="0" anchor="ctr"/>
          <a:lstStyle/>
          <a:p>
            <a:pPr indent="0" marL="0">
              <a:buNone/>
            </a:pPr>
            <a:r>
              <a:rPr lang="en-US" sz="1400" b="1" dirty="0">
                <a:solidFill>
                  <a:srgbClr val="FFC57F"/>
                </a:solidFill>
                <a:latin typeface="Calibri" pitchFamily="34" charset="0"/>
                <a:ea typeface="Calibri" pitchFamily="34" charset="-122"/>
                <a:cs typeface="Calibri" pitchFamily="34" charset="-120"/>
              </a:rPr>
              <a:t>spec-design.md</a:t>
            </a:r>
            <a:endParaRPr lang="en-US" sz="1400" dirty="0"/>
          </a:p>
        </p:txBody>
      </p:sp>
      <p:sp>
        <p:nvSpPr>
          <p:cNvPr id="16" name="Text 11"/>
          <p:cNvSpPr/>
          <p:nvPr/>
        </p:nvSpPr>
        <p:spPr>
          <a:xfrm>
            <a:off x="6446520" y="2148840"/>
            <a:ext cx="2103120" cy="7315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Color tokens, typography</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Component patterns</a:t>
            </a:r>
            <a:endParaRPr lang="en-US" sz="1100" dirty="0"/>
          </a:p>
        </p:txBody>
      </p:sp>
      <p:sp>
        <p:nvSpPr>
          <p:cNvPr id="17" name="Text 12"/>
          <p:cNvSpPr/>
          <p:nvPr/>
        </p:nvSpPr>
        <p:spPr>
          <a:xfrm>
            <a:off x="640080" y="3154680"/>
            <a:ext cx="2743200" cy="274320"/>
          </a:xfrm>
          <a:prstGeom prst="rect">
            <a:avLst/>
          </a:prstGeom>
          <a:noFill/>
          <a:ln/>
        </p:spPr>
        <p:txBody>
          <a:bodyPr wrap="square" lIns="0" tIns="0" rIns="0" bIns="0" rtlCol="0" anchor="ctr"/>
          <a:lstStyle/>
          <a:p>
            <a:pPr indent="0" marL="0">
              <a:buNone/>
            </a:pPr>
            <a:r>
              <a:rPr lang="en-US" sz="1000" b="1" spc="300" kern="0" dirty="0">
                <a:solidFill>
                  <a:srgbClr val="94A3B8"/>
                </a:solidFill>
                <a:latin typeface="Calibri" pitchFamily="34" charset="0"/>
                <a:ea typeface="Calibri" pitchFamily="34" charset="-122"/>
                <a:cs typeface="Calibri" pitchFamily="34" charset="-120"/>
              </a:rPr>
              <a:t>SHARED FOUNDATION</a:t>
            </a:r>
            <a:endParaRPr lang="en-US" sz="1000" dirty="0"/>
          </a:p>
        </p:txBody>
      </p:sp>
      <p:sp>
        <p:nvSpPr>
          <p:cNvPr id="18" name="Shape 13"/>
          <p:cNvSpPr/>
          <p:nvPr/>
        </p:nvSpPr>
        <p:spPr>
          <a:xfrm>
            <a:off x="640080" y="3429000"/>
            <a:ext cx="7863840" cy="2743"/>
          </a:xfrm>
          <a:prstGeom prst="rect">
            <a:avLst/>
          </a:prstGeom>
          <a:solidFill>
            <a:srgbClr val="243447"/>
          </a:solidFill>
          <a:ln/>
        </p:spPr>
      </p:sp>
      <p:sp>
        <p:nvSpPr>
          <p:cNvPr id="19" name="Shape 14"/>
          <p:cNvSpPr/>
          <p:nvPr/>
        </p:nvSpPr>
        <p:spPr>
          <a:xfrm>
            <a:off x="640080" y="3657600"/>
            <a:ext cx="3840480" cy="1143000"/>
          </a:xfrm>
          <a:prstGeom prst="rect">
            <a:avLst/>
          </a:prstGeom>
          <a:solidFill>
            <a:srgbClr val="1A2332"/>
          </a:solidFill>
          <a:ln/>
          <a:effectLst>
            <a:outerShdw sx="100000" sy="100000" kx="0" ky="0" algn="bl" rotWithShape="0" blurRad="101600" dist="38100" dir="8100000">
              <a:srgbClr val="000000">
                <a:alpha val="25000"/>
              </a:srgbClr>
            </a:outerShdw>
          </a:effectLst>
        </p:spPr>
      </p:sp>
      <p:pic>
        <p:nvPicPr>
          <p:cNvPr id="20" name="Image 3" descr="preencoded.png">    </p:cNvPr>
          <p:cNvPicPr>
            <a:picLocks noChangeAspect="1"/>
          </p:cNvPicPr>
          <p:nvPr/>
        </p:nvPicPr>
        <p:blipFill>
          <a:blip r:embed="rId4"/>
          <a:stretch>
            <a:fillRect/>
          </a:stretch>
        </p:blipFill>
        <p:spPr>
          <a:xfrm>
            <a:off x="868680" y="3840480"/>
            <a:ext cx="320040" cy="320040"/>
          </a:xfrm>
          <a:prstGeom prst="rect">
            <a:avLst/>
          </a:prstGeom>
        </p:spPr>
      </p:pic>
      <p:sp>
        <p:nvSpPr>
          <p:cNvPr id="21" name="Text 15"/>
          <p:cNvSpPr/>
          <p:nvPr/>
        </p:nvSpPr>
        <p:spPr>
          <a:xfrm>
            <a:off x="1280160" y="3822192"/>
            <a:ext cx="2926080" cy="320040"/>
          </a:xfrm>
          <a:prstGeom prst="rect">
            <a:avLst/>
          </a:prstGeom>
          <a:noFill/>
          <a:ln/>
        </p:spPr>
        <p:txBody>
          <a:bodyPr wrap="square" lIns="0" tIns="0" rIns="0" bIns="0" rtlCol="0" anchor="ctr"/>
          <a:lstStyle/>
          <a:p>
            <a:pPr indent="0" marL="0">
              <a:buNone/>
            </a:pPr>
            <a:r>
              <a:rPr lang="en-US" sz="1300" b="1" dirty="0">
                <a:solidFill>
                  <a:srgbClr val="7FCBD3"/>
                </a:solidFill>
                <a:latin typeface="Calibri" pitchFamily="34" charset="0"/>
                <a:ea typeface="Calibri" pitchFamily="34" charset="-122"/>
                <a:cs typeface="Calibri" pitchFamily="34" charset="-120"/>
              </a:rPr>
              <a:t>spec-conversational.md</a:t>
            </a:r>
            <a:endParaRPr lang="en-US" sz="1300" dirty="0"/>
          </a:p>
        </p:txBody>
      </p:sp>
      <p:sp>
        <p:nvSpPr>
          <p:cNvPr id="22" name="Text 16"/>
          <p:cNvSpPr/>
          <p:nvPr/>
        </p:nvSpPr>
        <p:spPr>
          <a:xfrm>
            <a:off x="1280160" y="4160520"/>
            <a:ext cx="2926080" cy="59436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Chat-thread interface</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Append-only message flow</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Inline interactive components</a:t>
            </a:r>
            <a:endParaRPr lang="en-US" sz="1100" dirty="0"/>
          </a:p>
        </p:txBody>
      </p:sp>
      <p:sp>
        <p:nvSpPr>
          <p:cNvPr id="23" name="Shape 17"/>
          <p:cNvSpPr/>
          <p:nvPr/>
        </p:nvSpPr>
        <p:spPr>
          <a:xfrm>
            <a:off x="4800600" y="3657600"/>
            <a:ext cx="3840480" cy="1143000"/>
          </a:xfrm>
          <a:prstGeom prst="rect">
            <a:avLst/>
          </a:prstGeom>
          <a:solidFill>
            <a:srgbClr val="1A2332"/>
          </a:solidFill>
          <a:ln/>
          <a:effectLst>
            <a:outerShdw sx="100000" sy="100000" kx="0" ky="0" algn="bl" rotWithShape="0" blurRad="101600" dist="38100" dir="8100000">
              <a:srgbClr val="000000">
                <a:alpha val="25000"/>
              </a:srgbClr>
            </a:outerShdw>
          </a:effectLst>
        </p:spPr>
      </p:sp>
      <p:pic>
        <p:nvPicPr>
          <p:cNvPr id="24" name="Image 4" descr="preencoded.png">    </p:cNvPr>
          <p:cNvPicPr>
            <a:picLocks noChangeAspect="1"/>
          </p:cNvPicPr>
          <p:nvPr/>
        </p:nvPicPr>
        <p:blipFill>
          <a:blip r:embed="rId5"/>
          <a:stretch>
            <a:fillRect/>
          </a:stretch>
        </p:blipFill>
        <p:spPr>
          <a:xfrm>
            <a:off x="5029200" y="3840480"/>
            <a:ext cx="320040" cy="320040"/>
          </a:xfrm>
          <a:prstGeom prst="rect">
            <a:avLst/>
          </a:prstGeom>
        </p:spPr>
      </p:pic>
      <p:sp>
        <p:nvSpPr>
          <p:cNvPr id="25" name="Text 18"/>
          <p:cNvSpPr/>
          <p:nvPr/>
        </p:nvSpPr>
        <p:spPr>
          <a:xfrm>
            <a:off x="5440680" y="3822192"/>
            <a:ext cx="2926080" cy="320040"/>
          </a:xfrm>
          <a:prstGeom prst="rect">
            <a:avLst/>
          </a:prstGeom>
          <a:noFill/>
          <a:ln/>
        </p:spPr>
        <p:txBody>
          <a:bodyPr wrap="square" lIns="0" tIns="0" rIns="0" bIns="0" rtlCol="0" anchor="ctr"/>
          <a:lstStyle/>
          <a:p>
            <a:pPr indent="0" marL="0">
              <a:buNone/>
            </a:pPr>
            <a:r>
              <a:rPr lang="en-US" sz="1300" b="1" dirty="0">
                <a:solidFill>
                  <a:srgbClr val="7FCBD3"/>
                </a:solidFill>
                <a:latin typeface="Calibri" pitchFamily="34" charset="0"/>
                <a:ea typeface="Calibri" pitchFamily="34" charset="-122"/>
                <a:cs typeface="Calibri" pitchFamily="34" charset="-120"/>
              </a:rPr>
              <a:t>spec-multistep.md</a:t>
            </a:r>
            <a:endParaRPr lang="en-US" sz="1300" dirty="0"/>
          </a:p>
        </p:txBody>
      </p:sp>
      <p:sp>
        <p:nvSpPr>
          <p:cNvPr id="26" name="Text 19"/>
          <p:cNvSpPr/>
          <p:nvPr/>
        </p:nvSpPr>
        <p:spPr>
          <a:xfrm>
            <a:off x="5440680" y="4160520"/>
            <a:ext cx="2926080" cy="59436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Wizard-style numbered steps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Back/Continue navigation</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Progress indicator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274320"/>
            <a:ext cx="8229600" cy="640080"/>
          </a:xfrm>
          <a:prstGeom prst="rect">
            <a:avLst/>
          </a:prstGeom>
          <a:noFill/>
          <a:ln/>
        </p:spPr>
        <p:txBody>
          <a:bodyPr wrap="square" lIns="0" tIns="0" rIns="0" bIns="0" rtlCol="0" anchor="ctr"/>
          <a:lstStyle/>
          <a:p>
            <a:pPr indent="0" marL="0">
              <a:buNone/>
            </a:pPr>
            <a:r>
              <a:rPr lang="en-US" sz="3600" b="1" dirty="0">
                <a:solidFill>
                  <a:srgbClr val="0F1419"/>
                </a:solidFill>
                <a:latin typeface="Georgia" pitchFamily="34" charset="0"/>
                <a:ea typeface="Georgia" pitchFamily="34" charset="-122"/>
                <a:cs typeface="Georgia" pitchFamily="34" charset="-120"/>
              </a:rPr>
              <a:t>The 7-Step Booking Journey</a:t>
            </a:r>
            <a:endParaRPr lang="en-US" sz="3600" dirty="0"/>
          </a:p>
        </p:txBody>
      </p:sp>
      <p:sp>
        <p:nvSpPr>
          <p:cNvPr id="4" name="Text 2"/>
          <p:cNvSpPr/>
          <p:nvPr/>
        </p:nvSpPr>
        <p:spPr>
          <a:xfrm>
            <a:off x="640080" y="868680"/>
            <a:ext cx="7772400" cy="365760"/>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Each step queries the API, updates BookingPayload, and refreshes the receipt</a:t>
            </a:r>
            <a:endParaRPr lang="en-US" sz="1400" dirty="0"/>
          </a:p>
        </p:txBody>
      </p:sp>
      <p:sp>
        <p:nvSpPr>
          <p:cNvPr id="5" name="Shape 3"/>
          <p:cNvSpPr/>
          <p:nvPr/>
        </p:nvSpPr>
        <p:spPr>
          <a:xfrm>
            <a:off x="548640" y="1645920"/>
            <a:ext cx="640080" cy="640080"/>
          </a:xfrm>
          <a:prstGeom prst="ellipse">
            <a:avLst/>
          </a:prstGeom>
          <a:solidFill>
            <a:srgbClr val="E35205"/>
          </a:solidFill>
          <a:ln/>
        </p:spPr>
      </p:sp>
      <p:sp>
        <p:nvSpPr>
          <p:cNvPr id="6" name="Text 4"/>
          <p:cNvSpPr/>
          <p:nvPr/>
        </p:nvSpPr>
        <p:spPr>
          <a:xfrm>
            <a:off x="548640" y="16459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pic>
        <p:nvPicPr>
          <p:cNvPr id="7" name="Image 0" descr="preencoded.png">    </p:cNvPr>
          <p:cNvPicPr>
            <a:picLocks noChangeAspect="1"/>
          </p:cNvPicPr>
          <p:nvPr/>
        </p:nvPicPr>
        <p:blipFill>
          <a:blip r:embed="rId1"/>
          <a:stretch>
            <a:fillRect/>
          </a:stretch>
        </p:blipFill>
        <p:spPr>
          <a:xfrm>
            <a:off x="640080" y="2468880"/>
            <a:ext cx="457200" cy="457200"/>
          </a:xfrm>
          <a:prstGeom prst="rect">
            <a:avLst/>
          </a:prstGeom>
        </p:spPr>
      </p:pic>
      <p:sp>
        <p:nvSpPr>
          <p:cNvPr id="8" name="Text 5"/>
          <p:cNvSpPr/>
          <p:nvPr/>
        </p:nvSpPr>
        <p:spPr>
          <a:xfrm>
            <a:off x="320040" y="3017520"/>
            <a:ext cx="1097280" cy="548640"/>
          </a:xfrm>
          <a:prstGeom prst="rect">
            <a:avLst/>
          </a:prstGeom>
          <a:noFill/>
          <a:ln/>
        </p:spPr>
        <p:txBody>
          <a:bodyPr wrap="square" lIns="0" tIns="0" rIns="0" bIns="0" rtlCol="0" anchor="ctr"/>
          <a:lstStyle/>
          <a:p>
            <a:pPr algn="ctr" indent="0" marL="0">
              <a:buNone/>
            </a:pPr>
            <a:r>
              <a:rPr lang="en-US" sz="1100" dirty="0">
                <a:solidFill>
                  <a:srgbClr val="0F1419"/>
                </a:solidFill>
                <a:latin typeface="Calibri" pitchFamily="34" charset="0"/>
                <a:ea typeface="Calibri" pitchFamily="34" charset="-122"/>
                <a:cs typeface="Calibri" pitchFamily="34" charset="-120"/>
              </a:rPr>
              <a:t>Occupancy</a:t>
            </a:r>
            <a:endParaRPr lang="en-US" sz="1100" dirty="0"/>
          </a:p>
        </p:txBody>
      </p:sp>
      <p:sp>
        <p:nvSpPr>
          <p:cNvPr id="9" name="Shape 6"/>
          <p:cNvSpPr/>
          <p:nvPr/>
        </p:nvSpPr>
        <p:spPr>
          <a:xfrm>
            <a:off x="1325880" y="1965960"/>
            <a:ext cx="228600" cy="0"/>
          </a:xfrm>
          <a:prstGeom prst="line">
            <a:avLst/>
          </a:prstGeom>
          <a:noFill/>
          <a:ln w="19050">
            <a:solidFill>
              <a:srgbClr val="94A3B8"/>
            </a:solidFill>
            <a:prstDash val="solid"/>
          </a:ln>
        </p:spPr>
      </p:sp>
      <p:sp>
        <p:nvSpPr>
          <p:cNvPr id="10" name="Shape 7"/>
          <p:cNvSpPr/>
          <p:nvPr/>
        </p:nvSpPr>
        <p:spPr>
          <a:xfrm>
            <a:off x="1783080" y="1645920"/>
            <a:ext cx="640080" cy="640080"/>
          </a:xfrm>
          <a:prstGeom prst="ellipse">
            <a:avLst/>
          </a:prstGeom>
          <a:solidFill>
            <a:srgbClr val="E35205"/>
          </a:solidFill>
          <a:ln/>
        </p:spPr>
      </p:sp>
      <p:sp>
        <p:nvSpPr>
          <p:cNvPr id="11" name="Text 8"/>
          <p:cNvSpPr/>
          <p:nvPr/>
        </p:nvSpPr>
        <p:spPr>
          <a:xfrm>
            <a:off x="1783080" y="16459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pic>
        <p:nvPicPr>
          <p:cNvPr id="12" name="Image 1" descr="preencoded.png">    </p:cNvPr>
          <p:cNvPicPr>
            <a:picLocks noChangeAspect="1"/>
          </p:cNvPicPr>
          <p:nvPr/>
        </p:nvPicPr>
        <p:blipFill>
          <a:blip r:embed="rId2"/>
          <a:stretch>
            <a:fillRect/>
          </a:stretch>
        </p:blipFill>
        <p:spPr>
          <a:xfrm>
            <a:off x="1874520" y="2468880"/>
            <a:ext cx="457200" cy="457200"/>
          </a:xfrm>
          <a:prstGeom prst="rect">
            <a:avLst/>
          </a:prstGeom>
        </p:spPr>
      </p:pic>
      <p:sp>
        <p:nvSpPr>
          <p:cNvPr id="13" name="Text 9"/>
          <p:cNvSpPr/>
          <p:nvPr/>
        </p:nvSpPr>
        <p:spPr>
          <a:xfrm>
            <a:off x="1554480" y="3017520"/>
            <a:ext cx="1097280" cy="548640"/>
          </a:xfrm>
          <a:prstGeom prst="rect">
            <a:avLst/>
          </a:prstGeom>
          <a:noFill/>
          <a:ln/>
        </p:spPr>
        <p:txBody>
          <a:bodyPr wrap="square" lIns="0" tIns="0" rIns="0" bIns="0" rtlCol="0" anchor="ctr"/>
          <a:lstStyle/>
          <a:p>
            <a:pPr algn="ctr" indent="0" marL="0">
              <a:buNone/>
            </a:pPr>
            <a:r>
              <a:rPr lang="en-US" sz="1100" dirty="0">
                <a:solidFill>
                  <a:srgbClr val="0F1419"/>
                </a:solidFill>
                <a:latin typeface="Calibri" pitchFamily="34" charset="0"/>
                <a:ea typeface="Calibri" pitchFamily="34" charset="-122"/>
                <a:cs typeface="Calibri" pitchFamily="34" charset="-120"/>
              </a:rPr>
              <a:t>Calendar &amp;</a:t>
            </a:r>
            <a:endParaRPr lang="en-US" sz="1100" dirty="0"/>
          </a:p>
          <a:p>
            <a:pPr algn="ctr" indent="0" marL="0">
              <a:buNone/>
            </a:pPr>
            <a:r>
              <a:rPr lang="en-US" sz="1100" dirty="0">
                <a:solidFill>
                  <a:srgbClr val="0F1419"/>
                </a:solidFill>
                <a:latin typeface="Calibri" pitchFamily="34" charset="0"/>
                <a:ea typeface="Calibri" pitchFamily="34" charset="-122"/>
                <a:cs typeface="Calibri" pitchFamily="34" charset="-120"/>
              </a:rPr>
              <a:t>Airport</a:t>
            </a:r>
            <a:endParaRPr lang="en-US" sz="1100" dirty="0"/>
          </a:p>
        </p:txBody>
      </p:sp>
      <p:sp>
        <p:nvSpPr>
          <p:cNvPr id="14" name="Shape 10"/>
          <p:cNvSpPr/>
          <p:nvPr/>
        </p:nvSpPr>
        <p:spPr>
          <a:xfrm>
            <a:off x="2560320" y="1965960"/>
            <a:ext cx="228600" cy="0"/>
          </a:xfrm>
          <a:prstGeom prst="line">
            <a:avLst/>
          </a:prstGeom>
          <a:noFill/>
          <a:ln w="19050">
            <a:solidFill>
              <a:srgbClr val="94A3B8"/>
            </a:solidFill>
            <a:prstDash val="solid"/>
          </a:ln>
        </p:spPr>
      </p:sp>
      <p:sp>
        <p:nvSpPr>
          <p:cNvPr id="15" name="Shape 11"/>
          <p:cNvSpPr/>
          <p:nvPr/>
        </p:nvSpPr>
        <p:spPr>
          <a:xfrm>
            <a:off x="3017520" y="1645920"/>
            <a:ext cx="640080" cy="640080"/>
          </a:xfrm>
          <a:prstGeom prst="ellipse">
            <a:avLst/>
          </a:prstGeom>
          <a:solidFill>
            <a:srgbClr val="E35205"/>
          </a:solidFill>
          <a:ln/>
        </p:spPr>
      </p:sp>
      <p:sp>
        <p:nvSpPr>
          <p:cNvPr id="16" name="Text 12"/>
          <p:cNvSpPr/>
          <p:nvPr/>
        </p:nvSpPr>
        <p:spPr>
          <a:xfrm>
            <a:off x="3017520" y="16459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pic>
        <p:nvPicPr>
          <p:cNvPr id="17" name="Image 2" descr="preencoded.png">    </p:cNvPr>
          <p:cNvPicPr>
            <a:picLocks noChangeAspect="1"/>
          </p:cNvPicPr>
          <p:nvPr/>
        </p:nvPicPr>
        <p:blipFill>
          <a:blip r:embed="rId3"/>
          <a:stretch>
            <a:fillRect/>
          </a:stretch>
        </p:blipFill>
        <p:spPr>
          <a:xfrm>
            <a:off x="3108960" y="2468880"/>
            <a:ext cx="457200" cy="457200"/>
          </a:xfrm>
          <a:prstGeom prst="rect">
            <a:avLst/>
          </a:prstGeom>
        </p:spPr>
      </p:pic>
      <p:sp>
        <p:nvSpPr>
          <p:cNvPr id="18" name="Text 13"/>
          <p:cNvSpPr/>
          <p:nvPr/>
        </p:nvSpPr>
        <p:spPr>
          <a:xfrm>
            <a:off x="2788920" y="3017520"/>
            <a:ext cx="1097280" cy="548640"/>
          </a:xfrm>
          <a:prstGeom prst="rect">
            <a:avLst/>
          </a:prstGeom>
          <a:noFill/>
          <a:ln/>
        </p:spPr>
        <p:txBody>
          <a:bodyPr wrap="square" lIns="0" tIns="0" rIns="0" bIns="0" rtlCol="0" anchor="ctr"/>
          <a:lstStyle/>
          <a:p>
            <a:pPr algn="ctr" indent="0" marL="0">
              <a:buNone/>
            </a:pPr>
            <a:r>
              <a:rPr lang="en-US" sz="1100" dirty="0">
                <a:solidFill>
                  <a:srgbClr val="0F1419"/>
                </a:solidFill>
                <a:latin typeface="Calibri" pitchFamily="34" charset="0"/>
                <a:ea typeface="Calibri" pitchFamily="34" charset="-122"/>
                <a:cs typeface="Calibri" pitchFamily="34" charset="-120"/>
              </a:rPr>
              <a:t>Rooms &amp;</a:t>
            </a:r>
            <a:endParaRPr lang="en-US" sz="1100" dirty="0"/>
          </a:p>
          <a:p>
            <a:pPr algn="ctr" indent="0" marL="0">
              <a:buNone/>
            </a:pPr>
            <a:r>
              <a:rPr lang="en-US" sz="1100" dirty="0">
                <a:solidFill>
                  <a:srgbClr val="0F1419"/>
                </a:solidFill>
                <a:latin typeface="Calibri" pitchFamily="34" charset="0"/>
                <a:ea typeface="Calibri" pitchFamily="34" charset="-122"/>
                <a:cs typeface="Calibri" pitchFamily="34" charset="-120"/>
              </a:rPr>
              <a:t>Extras</a:t>
            </a:r>
            <a:endParaRPr lang="en-US" sz="1100" dirty="0"/>
          </a:p>
        </p:txBody>
      </p:sp>
      <p:sp>
        <p:nvSpPr>
          <p:cNvPr id="19" name="Shape 14"/>
          <p:cNvSpPr/>
          <p:nvPr/>
        </p:nvSpPr>
        <p:spPr>
          <a:xfrm>
            <a:off x="3794760" y="1965960"/>
            <a:ext cx="228600" cy="0"/>
          </a:xfrm>
          <a:prstGeom prst="line">
            <a:avLst/>
          </a:prstGeom>
          <a:noFill/>
          <a:ln w="19050">
            <a:solidFill>
              <a:srgbClr val="94A3B8"/>
            </a:solidFill>
            <a:prstDash val="solid"/>
          </a:ln>
        </p:spPr>
      </p:sp>
      <p:sp>
        <p:nvSpPr>
          <p:cNvPr id="20" name="Shape 15"/>
          <p:cNvSpPr/>
          <p:nvPr/>
        </p:nvSpPr>
        <p:spPr>
          <a:xfrm>
            <a:off x="4251960" y="1645920"/>
            <a:ext cx="640080" cy="640080"/>
          </a:xfrm>
          <a:prstGeom prst="ellipse">
            <a:avLst/>
          </a:prstGeom>
          <a:solidFill>
            <a:srgbClr val="E35205"/>
          </a:solidFill>
          <a:ln/>
        </p:spPr>
      </p:sp>
      <p:sp>
        <p:nvSpPr>
          <p:cNvPr id="21" name="Text 16"/>
          <p:cNvSpPr/>
          <p:nvPr/>
        </p:nvSpPr>
        <p:spPr>
          <a:xfrm>
            <a:off x="4251960" y="16459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pic>
        <p:nvPicPr>
          <p:cNvPr id="22" name="Image 3" descr="preencoded.png">    </p:cNvPr>
          <p:cNvPicPr>
            <a:picLocks noChangeAspect="1"/>
          </p:cNvPicPr>
          <p:nvPr/>
        </p:nvPicPr>
        <p:blipFill>
          <a:blip r:embed="rId4"/>
          <a:stretch>
            <a:fillRect/>
          </a:stretch>
        </p:blipFill>
        <p:spPr>
          <a:xfrm>
            <a:off x="4343400" y="2468880"/>
            <a:ext cx="457200" cy="457200"/>
          </a:xfrm>
          <a:prstGeom prst="rect">
            <a:avLst/>
          </a:prstGeom>
        </p:spPr>
      </p:pic>
      <p:sp>
        <p:nvSpPr>
          <p:cNvPr id="23" name="Text 17"/>
          <p:cNvSpPr/>
          <p:nvPr/>
        </p:nvSpPr>
        <p:spPr>
          <a:xfrm>
            <a:off x="4023360" y="3017520"/>
            <a:ext cx="1097280" cy="548640"/>
          </a:xfrm>
          <a:prstGeom prst="rect">
            <a:avLst/>
          </a:prstGeom>
          <a:noFill/>
          <a:ln/>
        </p:spPr>
        <p:txBody>
          <a:bodyPr wrap="square" lIns="0" tIns="0" rIns="0" bIns="0" rtlCol="0" anchor="ctr"/>
          <a:lstStyle/>
          <a:p>
            <a:pPr algn="ctr" indent="0" marL="0">
              <a:buNone/>
            </a:pPr>
            <a:r>
              <a:rPr lang="en-US" sz="1100" dirty="0">
                <a:solidFill>
                  <a:srgbClr val="0F1419"/>
                </a:solidFill>
                <a:latin typeface="Calibri" pitchFamily="34" charset="0"/>
                <a:ea typeface="Calibri" pitchFamily="34" charset="-122"/>
                <a:cs typeface="Calibri" pitchFamily="34" charset="-120"/>
              </a:rPr>
              <a:t>Activities</a:t>
            </a:r>
            <a:endParaRPr lang="en-US" sz="1100" dirty="0"/>
          </a:p>
        </p:txBody>
      </p:sp>
      <p:sp>
        <p:nvSpPr>
          <p:cNvPr id="24" name="Shape 18"/>
          <p:cNvSpPr/>
          <p:nvPr/>
        </p:nvSpPr>
        <p:spPr>
          <a:xfrm>
            <a:off x="5029200" y="1965960"/>
            <a:ext cx="228600" cy="0"/>
          </a:xfrm>
          <a:prstGeom prst="line">
            <a:avLst/>
          </a:prstGeom>
          <a:noFill/>
          <a:ln w="19050">
            <a:solidFill>
              <a:srgbClr val="94A3B8"/>
            </a:solidFill>
            <a:prstDash val="solid"/>
          </a:ln>
        </p:spPr>
      </p:sp>
      <p:sp>
        <p:nvSpPr>
          <p:cNvPr id="25" name="Shape 19"/>
          <p:cNvSpPr/>
          <p:nvPr/>
        </p:nvSpPr>
        <p:spPr>
          <a:xfrm>
            <a:off x="5486400" y="1645920"/>
            <a:ext cx="640080" cy="640080"/>
          </a:xfrm>
          <a:prstGeom prst="ellipse">
            <a:avLst/>
          </a:prstGeom>
          <a:solidFill>
            <a:srgbClr val="E35205"/>
          </a:solidFill>
          <a:ln/>
        </p:spPr>
      </p:sp>
      <p:sp>
        <p:nvSpPr>
          <p:cNvPr id="26" name="Text 20"/>
          <p:cNvSpPr/>
          <p:nvPr/>
        </p:nvSpPr>
        <p:spPr>
          <a:xfrm>
            <a:off x="5486400" y="16459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pic>
        <p:nvPicPr>
          <p:cNvPr id="27" name="Image 4" descr="preencoded.png">    </p:cNvPr>
          <p:cNvPicPr>
            <a:picLocks noChangeAspect="1"/>
          </p:cNvPicPr>
          <p:nvPr/>
        </p:nvPicPr>
        <p:blipFill>
          <a:blip r:embed="rId5"/>
          <a:stretch>
            <a:fillRect/>
          </a:stretch>
        </p:blipFill>
        <p:spPr>
          <a:xfrm>
            <a:off x="5577840" y="2468880"/>
            <a:ext cx="457200" cy="457200"/>
          </a:xfrm>
          <a:prstGeom prst="rect">
            <a:avLst/>
          </a:prstGeom>
        </p:spPr>
      </p:pic>
      <p:sp>
        <p:nvSpPr>
          <p:cNvPr id="28" name="Text 21"/>
          <p:cNvSpPr/>
          <p:nvPr/>
        </p:nvSpPr>
        <p:spPr>
          <a:xfrm>
            <a:off x="5257800" y="3017520"/>
            <a:ext cx="1097280" cy="548640"/>
          </a:xfrm>
          <a:prstGeom prst="rect">
            <a:avLst/>
          </a:prstGeom>
          <a:noFill/>
          <a:ln/>
        </p:spPr>
        <p:txBody>
          <a:bodyPr wrap="square" lIns="0" tIns="0" rIns="0" bIns="0" rtlCol="0" anchor="ctr"/>
          <a:lstStyle/>
          <a:p>
            <a:pPr algn="ctr" indent="0" marL="0">
              <a:buNone/>
            </a:pPr>
            <a:r>
              <a:rPr lang="en-US" sz="1100" dirty="0">
                <a:solidFill>
                  <a:srgbClr val="0F1419"/>
                </a:solidFill>
                <a:latin typeface="Calibri" pitchFamily="34" charset="0"/>
                <a:ea typeface="Calibri" pitchFamily="34" charset="-122"/>
                <a:cs typeface="Calibri" pitchFamily="34" charset="-120"/>
              </a:rPr>
              <a:t>Flights</a:t>
            </a:r>
            <a:endParaRPr lang="en-US" sz="1100" dirty="0"/>
          </a:p>
        </p:txBody>
      </p:sp>
      <p:sp>
        <p:nvSpPr>
          <p:cNvPr id="29" name="Shape 22"/>
          <p:cNvSpPr/>
          <p:nvPr/>
        </p:nvSpPr>
        <p:spPr>
          <a:xfrm>
            <a:off x="6263640" y="1965960"/>
            <a:ext cx="228600" cy="0"/>
          </a:xfrm>
          <a:prstGeom prst="line">
            <a:avLst/>
          </a:prstGeom>
          <a:noFill/>
          <a:ln w="19050">
            <a:solidFill>
              <a:srgbClr val="94A3B8"/>
            </a:solidFill>
            <a:prstDash val="solid"/>
          </a:ln>
        </p:spPr>
      </p:sp>
      <p:sp>
        <p:nvSpPr>
          <p:cNvPr id="30" name="Shape 23"/>
          <p:cNvSpPr/>
          <p:nvPr/>
        </p:nvSpPr>
        <p:spPr>
          <a:xfrm>
            <a:off x="6720840" y="1645920"/>
            <a:ext cx="640080" cy="640080"/>
          </a:xfrm>
          <a:prstGeom prst="ellipse">
            <a:avLst/>
          </a:prstGeom>
          <a:solidFill>
            <a:srgbClr val="E35205"/>
          </a:solidFill>
          <a:ln/>
        </p:spPr>
      </p:sp>
      <p:sp>
        <p:nvSpPr>
          <p:cNvPr id="31" name="Text 24"/>
          <p:cNvSpPr/>
          <p:nvPr/>
        </p:nvSpPr>
        <p:spPr>
          <a:xfrm>
            <a:off x="6720840" y="16459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pic>
        <p:nvPicPr>
          <p:cNvPr id="32" name="Image 5" descr="preencoded.png">    </p:cNvPr>
          <p:cNvPicPr>
            <a:picLocks noChangeAspect="1"/>
          </p:cNvPicPr>
          <p:nvPr/>
        </p:nvPicPr>
        <p:blipFill>
          <a:blip r:embed="rId6"/>
          <a:stretch>
            <a:fillRect/>
          </a:stretch>
        </p:blipFill>
        <p:spPr>
          <a:xfrm>
            <a:off x="6812280" y="2468880"/>
            <a:ext cx="457200" cy="457200"/>
          </a:xfrm>
          <a:prstGeom prst="rect">
            <a:avLst/>
          </a:prstGeom>
        </p:spPr>
      </p:pic>
      <p:sp>
        <p:nvSpPr>
          <p:cNvPr id="33" name="Text 25"/>
          <p:cNvSpPr/>
          <p:nvPr/>
        </p:nvSpPr>
        <p:spPr>
          <a:xfrm>
            <a:off x="6492240" y="3017520"/>
            <a:ext cx="1097280" cy="548640"/>
          </a:xfrm>
          <a:prstGeom prst="rect">
            <a:avLst/>
          </a:prstGeom>
          <a:noFill/>
          <a:ln/>
        </p:spPr>
        <p:txBody>
          <a:bodyPr wrap="square" lIns="0" tIns="0" rIns="0" bIns="0" rtlCol="0" anchor="ctr"/>
          <a:lstStyle/>
          <a:p>
            <a:pPr algn="ctr" indent="0" marL="0">
              <a:buNone/>
            </a:pPr>
            <a:r>
              <a:rPr lang="en-US" sz="1100" dirty="0">
                <a:solidFill>
                  <a:srgbClr val="0F1419"/>
                </a:solidFill>
                <a:latin typeface="Calibri" pitchFamily="34" charset="0"/>
                <a:ea typeface="Calibri" pitchFamily="34" charset="-122"/>
                <a:cs typeface="Calibri" pitchFamily="34" charset="-120"/>
              </a:rPr>
              <a:t>Car Hire</a:t>
            </a:r>
            <a:endParaRPr lang="en-US" sz="1100" dirty="0"/>
          </a:p>
        </p:txBody>
      </p:sp>
      <p:sp>
        <p:nvSpPr>
          <p:cNvPr id="34" name="Shape 26"/>
          <p:cNvSpPr/>
          <p:nvPr/>
        </p:nvSpPr>
        <p:spPr>
          <a:xfrm>
            <a:off x="7498080" y="1965960"/>
            <a:ext cx="228600" cy="0"/>
          </a:xfrm>
          <a:prstGeom prst="line">
            <a:avLst/>
          </a:prstGeom>
          <a:noFill/>
          <a:ln w="19050">
            <a:solidFill>
              <a:srgbClr val="94A3B8"/>
            </a:solidFill>
            <a:prstDash val="solid"/>
          </a:ln>
        </p:spPr>
      </p:sp>
      <p:sp>
        <p:nvSpPr>
          <p:cNvPr id="35" name="Shape 27"/>
          <p:cNvSpPr/>
          <p:nvPr/>
        </p:nvSpPr>
        <p:spPr>
          <a:xfrm>
            <a:off x="7955280" y="1645920"/>
            <a:ext cx="640080" cy="640080"/>
          </a:xfrm>
          <a:prstGeom prst="ellipse">
            <a:avLst/>
          </a:prstGeom>
          <a:solidFill>
            <a:srgbClr val="E35205"/>
          </a:solidFill>
          <a:ln/>
        </p:spPr>
      </p:sp>
      <p:sp>
        <p:nvSpPr>
          <p:cNvPr id="36" name="Text 28"/>
          <p:cNvSpPr/>
          <p:nvPr/>
        </p:nvSpPr>
        <p:spPr>
          <a:xfrm>
            <a:off x="7955280" y="16459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pic>
        <p:nvPicPr>
          <p:cNvPr id="37" name="Image 6" descr="preencoded.png">    </p:cNvPr>
          <p:cNvPicPr>
            <a:picLocks noChangeAspect="1"/>
          </p:cNvPicPr>
          <p:nvPr/>
        </p:nvPicPr>
        <p:blipFill>
          <a:blip r:embed="rId7"/>
          <a:stretch>
            <a:fillRect/>
          </a:stretch>
        </p:blipFill>
        <p:spPr>
          <a:xfrm>
            <a:off x="8046720" y="2468880"/>
            <a:ext cx="457200" cy="457200"/>
          </a:xfrm>
          <a:prstGeom prst="rect">
            <a:avLst/>
          </a:prstGeom>
        </p:spPr>
      </p:pic>
      <p:sp>
        <p:nvSpPr>
          <p:cNvPr id="38" name="Text 29"/>
          <p:cNvSpPr/>
          <p:nvPr/>
        </p:nvSpPr>
        <p:spPr>
          <a:xfrm>
            <a:off x="7726680" y="3017520"/>
            <a:ext cx="1097280" cy="548640"/>
          </a:xfrm>
          <a:prstGeom prst="rect">
            <a:avLst/>
          </a:prstGeom>
          <a:noFill/>
          <a:ln/>
        </p:spPr>
        <p:txBody>
          <a:bodyPr wrap="square" lIns="0" tIns="0" rIns="0" bIns="0" rtlCol="0" anchor="ctr"/>
          <a:lstStyle/>
          <a:p>
            <a:pPr algn="ctr" indent="0" marL="0">
              <a:buNone/>
            </a:pPr>
            <a:r>
              <a:rPr lang="en-US" sz="1100" dirty="0">
                <a:solidFill>
                  <a:srgbClr val="0F1419"/>
                </a:solidFill>
                <a:latin typeface="Calibri" pitchFamily="34" charset="0"/>
                <a:ea typeface="Calibri" pitchFamily="34" charset="-122"/>
                <a:cs typeface="Calibri" pitchFamily="34" charset="-120"/>
              </a:rPr>
              <a:t>Checkout</a:t>
            </a:r>
            <a:endParaRPr lang="en-US" sz="1100" dirty="0"/>
          </a:p>
        </p:txBody>
      </p:sp>
      <p:sp>
        <p:nvSpPr>
          <p:cNvPr id="39" name="Shape 30"/>
          <p:cNvSpPr/>
          <p:nvPr/>
        </p:nvSpPr>
        <p:spPr>
          <a:xfrm>
            <a:off x="640080" y="3657600"/>
            <a:ext cx="7863840" cy="109728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40" name="Shape 31"/>
          <p:cNvSpPr/>
          <p:nvPr/>
        </p:nvSpPr>
        <p:spPr>
          <a:xfrm>
            <a:off x="640080" y="3657600"/>
            <a:ext cx="64008" cy="1097280"/>
          </a:xfrm>
          <a:prstGeom prst="rect">
            <a:avLst/>
          </a:prstGeom>
          <a:solidFill>
            <a:srgbClr val="105F66"/>
          </a:solidFill>
          <a:ln/>
        </p:spPr>
      </p:sp>
      <p:sp>
        <p:nvSpPr>
          <p:cNvPr id="41" name="Text 32"/>
          <p:cNvSpPr/>
          <p:nvPr/>
        </p:nvSpPr>
        <p:spPr>
          <a:xfrm>
            <a:off x="960120" y="3749040"/>
            <a:ext cx="7315200" cy="914400"/>
          </a:xfrm>
          <a:prstGeom prst="rect">
            <a:avLst/>
          </a:prstGeom>
          <a:noFill/>
          <a:ln/>
        </p:spPr>
        <p:txBody>
          <a:bodyPr wrap="square" lIns="0" tIns="0" rIns="0" bIns="0" rtlCol="0" anchor="ctr"/>
          <a:lstStyle/>
          <a:p>
            <a:pPr indent="0" marL="0">
              <a:buNone/>
            </a:pPr>
            <a:r>
              <a:rPr lang="en-US" sz="1200" dirty="0">
                <a:solidFill>
                  <a:srgbClr val="243447"/>
                </a:solidFill>
                <a:latin typeface="Calibri" pitchFamily="34" charset="0"/>
                <a:ea typeface="Calibri" pitchFamily="34" charset="-122"/>
                <a:cs typeface="Calibri" pitchFamily="34" charset="-120"/>
              </a:rPr>
              <a:t>Receipt updates after every confirmed selection throughout the entire flow. The API is stateless — the frontend builds a BookingPayload incrementally and passes it with each GraphQL query. Async polling is used for flights and car hire searches.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274320"/>
            <a:ext cx="8229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Two UI Approaches, One Spec</a:t>
            </a:r>
            <a:endParaRPr lang="en-US" sz="3600" dirty="0"/>
          </a:p>
        </p:txBody>
      </p:sp>
      <p:sp>
        <p:nvSpPr>
          <p:cNvPr id="4" name="Text 2"/>
          <p:cNvSpPr/>
          <p:nvPr/>
        </p:nvSpPr>
        <p:spPr>
          <a:xfrm>
            <a:off x="640080" y="868680"/>
            <a:ext cx="77724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Same API, same design tokens, same components — different interaction paradigms</a:t>
            </a:r>
            <a:endParaRPr lang="en-US" sz="1400" dirty="0"/>
          </a:p>
        </p:txBody>
      </p:sp>
      <p:sp>
        <p:nvSpPr>
          <p:cNvPr id="5" name="Shape 3"/>
          <p:cNvSpPr/>
          <p:nvPr/>
        </p:nvSpPr>
        <p:spPr>
          <a:xfrm>
            <a:off x="640080" y="1508760"/>
            <a:ext cx="3794760" cy="320040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6" name="Shape 4"/>
          <p:cNvSpPr/>
          <p:nvPr/>
        </p:nvSpPr>
        <p:spPr>
          <a:xfrm>
            <a:off x="640080" y="1508760"/>
            <a:ext cx="3794760" cy="54864"/>
          </a:xfrm>
          <a:prstGeom prst="rect">
            <a:avLst/>
          </a:prstGeom>
          <a:solidFill>
            <a:srgbClr val="7FCBD3"/>
          </a:solidFill>
          <a:ln/>
        </p:spPr>
      </p:sp>
      <p:pic>
        <p:nvPicPr>
          <p:cNvPr id="7" name="Image 0" descr="preencoded.png">    </p:cNvPr>
          <p:cNvPicPr>
            <a:picLocks noChangeAspect="1"/>
          </p:cNvPicPr>
          <p:nvPr/>
        </p:nvPicPr>
        <p:blipFill>
          <a:blip r:embed="rId1"/>
          <a:stretch>
            <a:fillRect/>
          </a:stretch>
        </p:blipFill>
        <p:spPr>
          <a:xfrm>
            <a:off x="914400" y="1783080"/>
            <a:ext cx="411480" cy="411480"/>
          </a:xfrm>
          <a:prstGeom prst="rect">
            <a:avLst/>
          </a:prstGeom>
        </p:spPr>
      </p:pic>
      <p:sp>
        <p:nvSpPr>
          <p:cNvPr id="8" name="Text 5"/>
          <p:cNvSpPr/>
          <p:nvPr/>
        </p:nvSpPr>
        <p:spPr>
          <a:xfrm>
            <a:off x="1417320" y="1783080"/>
            <a:ext cx="2743200" cy="411480"/>
          </a:xfrm>
          <a:prstGeom prst="rect">
            <a:avLst/>
          </a:prstGeom>
          <a:noFill/>
          <a:ln/>
        </p:spPr>
        <p:txBody>
          <a:bodyPr wrap="square" lIns="0" tIns="0" rIns="0" bIns="0" rtlCol="0" anchor="ctr"/>
          <a:lstStyle/>
          <a:p>
            <a:pPr indent="0" marL="0">
              <a:buNone/>
            </a:pPr>
            <a:r>
              <a:rPr lang="en-US" sz="2000" b="1" dirty="0">
                <a:solidFill>
                  <a:srgbClr val="7FCBD3"/>
                </a:solidFill>
                <a:latin typeface="Calibri" pitchFamily="34" charset="0"/>
                <a:ea typeface="Calibri" pitchFamily="34" charset="-122"/>
                <a:cs typeface="Calibri" pitchFamily="34" charset="-120"/>
              </a:rPr>
              <a:t>Conversational UI</a:t>
            </a:r>
            <a:endParaRPr lang="en-US" sz="2000" dirty="0"/>
          </a:p>
        </p:txBody>
      </p:sp>
      <p:sp>
        <p:nvSpPr>
          <p:cNvPr id="9" name="Text 6"/>
          <p:cNvSpPr/>
          <p:nvPr/>
        </p:nvSpPr>
        <p:spPr>
          <a:xfrm>
            <a:off x="914400" y="2377440"/>
            <a:ext cx="3246120" cy="182880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ChatThread      │ Receipt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[assistant]...  │ £619 pp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[user] 2 adults │ ────────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[assistant]     │ Itinerary│</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&lt;Calendar /&gt;    │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&lt;ChatInput /&gt;   │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a:t>
            </a:r>
            <a:endParaRPr lang="en-US" sz="850" dirty="0"/>
          </a:p>
        </p:txBody>
      </p:sp>
      <p:sp>
        <p:nvSpPr>
          <p:cNvPr id="10" name="Text 7"/>
          <p:cNvSpPr/>
          <p:nvPr/>
        </p:nvSpPr>
        <p:spPr>
          <a:xfrm>
            <a:off x="914400" y="4160520"/>
            <a:ext cx="320040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Chat-thread modelled on Claude.ai</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Append-only — each selection adds a message</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Natural language input supported</a:t>
            </a:r>
            <a:endParaRPr lang="en-US" sz="1000" dirty="0"/>
          </a:p>
        </p:txBody>
      </p:sp>
      <p:sp>
        <p:nvSpPr>
          <p:cNvPr id="11" name="Shape 8"/>
          <p:cNvSpPr/>
          <p:nvPr/>
        </p:nvSpPr>
        <p:spPr>
          <a:xfrm>
            <a:off x="4709160" y="1508760"/>
            <a:ext cx="3794760" cy="3200400"/>
          </a:xfrm>
          <a:prstGeom prst="rect">
            <a:avLst/>
          </a:prstGeom>
          <a:solidFill>
            <a:srgbClr val="1A2332"/>
          </a:solidFill>
          <a:ln/>
          <a:effectLst>
            <a:outerShdw sx="100000" sy="100000" kx="0" ky="0" algn="bl" rotWithShape="0" blurRad="101600" dist="38100" dir="8100000">
              <a:srgbClr val="000000">
                <a:alpha val="25000"/>
              </a:srgbClr>
            </a:outerShdw>
          </a:effectLst>
        </p:spPr>
      </p:sp>
      <p:sp>
        <p:nvSpPr>
          <p:cNvPr id="12" name="Shape 9"/>
          <p:cNvSpPr/>
          <p:nvPr/>
        </p:nvSpPr>
        <p:spPr>
          <a:xfrm>
            <a:off x="4709160" y="1508760"/>
            <a:ext cx="3794760" cy="54864"/>
          </a:xfrm>
          <a:prstGeom prst="rect">
            <a:avLst/>
          </a:prstGeom>
          <a:solidFill>
            <a:srgbClr val="FFC57F"/>
          </a:solidFill>
          <a:ln/>
        </p:spPr>
      </p:sp>
      <p:pic>
        <p:nvPicPr>
          <p:cNvPr id="13" name="Image 1" descr="preencoded.png">    </p:cNvPr>
          <p:cNvPicPr>
            <a:picLocks noChangeAspect="1"/>
          </p:cNvPicPr>
          <p:nvPr/>
        </p:nvPicPr>
        <p:blipFill>
          <a:blip r:embed="rId2"/>
          <a:stretch>
            <a:fillRect/>
          </a:stretch>
        </p:blipFill>
        <p:spPr>
          <a:xfrm>
            <a:off x="4983480" y="1783080"/>
            <a:ext cx="411480" cy="411480"/>
          </a:xfrm>
          <a:prstGeom prst="rect">
            <a:avLst/>
          </a:prstGeom>
        </p:spPr>
      </p:pic>
      <p:sp>
        <p:nvSpPr>
          <p:cNvPr id="14" name="Text 10"/>
          <p:cNvSpPr/>
          <p:nvPr/>
        </p:nvSpPr>
        <p:spPr>
          <a:xfrm>
            <a:off x="5486400" y="1783080"/>
            <a:ext cx="2743200" cy="411480"/>
          </a:xfrm>
          <a:prstGeom prst="rect">
            <a:avLst/>
          </a:prstGeom>
          <a:noFill/>
          <a:ln/>
        </p:spPr>
        <p:txBody>
          <a:bodyPr wrap="square" lIns="0" tIns="0" rIns="0" bIns="0" rtlCol="0" anchor="ctr"/>
          <a:lstStyle/>
          <a:p>
            <a:pPr indent="0" marL="0">
              <a:buNone/>
            </a:pPr>
            <a:r>
              <a:rPr lang="en-US" sz="2000" b="1" dirty="0">
                <a:solidFill>
                  <a:srgbClr val="FFC57F"/>
                </a:solidFill>
                <a:latin typeface="Calibri" pitchFamily="34" charset="0"/>
                <a:ea typeface="Calibri" pitchFamily="34" charset="-122"/>
                <a:cs typeface="Calibri" pitchFamily="34" charset="-120"/>
              </a:rPr>
              <a:t>Multi-Step Wizard</a:t>
            </a:r>
            <a:endParaRPr lang="en-US" sz="2000" dirty="0"/>
          </a:p>
        </p:txBody>
      </p:sp>
      <p:sp>
        <p:nvSpPr>
          <p:cNvPr id="15" name="Text 11"/>
          <p:cNvSpPr/>
          <p:nvPr/>
        </p:nvSpPr>
        <p:spPr>
          <a:xfrm>
            <a:off x="4983480" y="2377440"/>
            <a:ext cx="3246120" cy="182880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Step 3 of 7     │ Receipt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 ● ● ○ ○ ○ ○   │ £619 pp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Choose your room│ ────────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 Itinerary│</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[UnitPicker]    │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 Back  Next →  │          │</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a:t>
            </a:r>
            <a:endParaRPr lang="en-US" sz="850" dirty="0"/>
          </a:p>
        </p:txBody>
      </p:sp>
      <p:sp>
        <p:nvSpPr>
          <p:cNvPr id="16" name="Text 12"/>
          <p:cNvSpPr/>
          <p:nvPr/>
        </p:nvSpPr>
        <p:spPr>
          <a:xfrm>
            <a:off x="4983480" y="4160520"/>
            <a:ext cx="320040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Structured numbered steps</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Back/Continue navigation</a:t>
            </a:r>
            <a:endParaRPr lang="en-US" sz="1000" dirty="0"/>
          </a:p>
          <a:p>
            <a:pPr indent="0" marL="0">
              <a:buNone/>
            </a:pPr>
            <a:r>
              <a:rPr lang="en-US" sz="1000" dirty="0">
                <a:solidFill>
                  <a:srgbClr val="94A3B8"/>
                </a:solidFill>
                <a:latin typeface="Calibri" pitchFamily="34" charset="0"/>
                <a:ea typeface="Calibri" pitchFamily="34" charset="-122"/>
                <a:cs typeface="Calibri" pitchFamily="34" charset="-120"/>
              </a:rPr>
              <a:t>Progress indicator at each stage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274320"/>
            <a:ext cx="8229600" cy="640080"/>
          </a:xfrm>
          <a:prstGeom prst="rect">
            <a:avLst/>
          </a:prstGeom>
          <a:noFill/>
          <a:ln/>
        </p:spPr>
        <p:txBody>
          <a:bodyPr wrap="square" lIns="0" tIns="0" rIns="0" bIns="0" rtlCol="0" anchor="ctr"/>
          <a:lstStyle/>
          <a:p>
            <a:pPr indent="0" marL="0">
              <a:buNone/>
            </a:pPr>
            <a:r>
              <a:rPr lang="en-US" sz="3600" b="1" dirty="0">
                <a:solidFill>
                  <a:srgbClr val="0F1419"/>
                </a:solidFill>
                <a:latin typeface="Georgia" pitchFamily="34" charset="0"/>
                <a:ea typeface="Georgia" pitchFamily="34" charset="-122"/>
                <a:cs typeface="Georgia" pitchFamily="34" charset="-120"/>
              </a:rPr>
              <a:t>The Speckit Workflow</a:t>
            </a:r>
            <a:endParaRPr lang="en-US" sz="3600" dirty="0"/>
          </a:p>
        </p:txBody>
      </p:sp>
      <p:sp>
        <p:nvSpPr>
          <p:cNvPr id="4" name="Text 2"/>
          <p:cNvSpPr/>
          <p:nvPr/>
        </p:nvSpPr>
        <p:spPr>
          <a:xfrm>
            <a:off x="640080" y="868680"/>
            <a:ext cx="7772400" cy="365760"/>
          </a:xfrm>
          <a:prstGeom prst="rect">
            <a:avLst/>
          </a:prstGeom>
          <a:noFill/>
          <a:ln/>
        </p:spPr>
        <p:txBody>
          <a:bodyPr wrap="square" lIns="0" tIns="0" rIns="0" bIns="0" rtlCol="0" anchor="ctr"/>
          <a:lstStyle/>
          <a:p>
            <a:pPr indent="0" marL="0">
              <a:buNone/>
            </a:pPr>
            <a:r>
              <a:rPr lang="en-US" sz="1400" dirty="0">
                <a:solidFill>
                  <a:srgbClr val="243447"/>
                </a:solidFill>
                <a:latin typeface="Calibri" pitchFamily="34" charset="0"/>
                <a:ea typeface="Calibri" pitchFamily="34" charset="-122"/>
                <a:cs typeface="Calibri" pitchFamily="34" charset="-120"/>
              </a:rPr>
              <a:t>An AI-assisted pipeline that enforces quality gates before any code is written</a:t>
            </a:r>
            <a:endParaRPr lang="en-US" sz="1400" dirty="0"/>
          </a:p>
        </p:txBody>
      </p:sp>
      <p:sp>
        <p:nvSpPr>
          <p:cNvPr id="5" name="Shape 3"/>
          <p:cNvSpPr/>
          <p:nvPr/>
        </p:nvSpPr>
        <p:spPr>
          <a:xfrm>
            <a:off x="640080" y="1508760"/>
            <a:ext cx="2560320" cy="128016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6" name="Shape 4"/>
          <p:cNvSpPr/>
          <p:nvPr/>
        </p:nvSpPr>
        <p:spPr>
          <a:xfrm>
            <a:off x="640080" y="1508760"/>
            <a:ext cx="2560320" cy="45720"/>
          </a:xfrm>
          <a:prstGeom prst="rect">
            <a:avLst/>
          </a:prstGeom>
          <a:solidFill>
            <a:srgbClr val="105F66"/>
          </a:solidFill>
          <a:ln/>
        </p:spPr>
      </p:sp>
      <p:sp>
        <p:nvSpPr>
          <p:cNvPr id="7" name="Shape 5"/>
          <p:cNvSpPr/>
          <p:nvPr/>
        </p:nvSpPr>
        <p:spPr>
          <a:xfrm>
            <a:off x="822960" y="1737360"/>
            <a:ext cx="457200" cy="457200"/>
          </a:xfrm>
          <a:prstGeom prst="ellipse">
            <a:avLst/>
          </a:prstGeom>
          <a:solidFill>
            <a:srgbClr val="105F66"/>
          </a:solidFill>
          <a:ln/>
        </p:spPr>
      </p:sp>
      <p:sp>
        <p:nvSpPr>
          <p:cNvPr id="8" name="Text 6"/>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17320" y="1737360"/>
            <a:ext cx="1554480" cy="320040"/>
          </a:xfrm>
          <a:prstGeom prst="rect">
            <a:avLst/>
          </a:prstGeom>
          <a:noFill/>
          <a:ln/>
        </p:spPr>
        <p:txBody>
          <a:bodyPr wrap="square" lIns="0" tIns="0" rIns="0" bIns="0" rtlCol="0" anchor="ctr"/>
          <a:lstStyle/>
          <a:p>
            <a:pPr indent="0" marL="0">
              <a:buNone/>
            </a:pPr>
            <a:r>
              <a:rPr lang="en-US" sz="1600" b="1" dirty="0">
                <a:solidFill>
                  <a:srgbClr val="0F1419"/>
                </a:solidFill>
                <a:latin typeface="Calibri" pitchFamily="34" charset="0"/>
                <a:ea typeface="Calibri" pitchFamily="34" charset="-122"/>
                <a:cs typeface="Calibri" pitchFamily="34" charset="-120"/>
              </a:rPr>
              <a:t>Specify</a:t>
            </a:r>
            <a:endParaRPr lang="en-US" sz="1600" dirty="0"/>
          </a:p>
        </p:txBody>
      </p:sp>
      <p:sp>
        <p:nvSpPr>
          <p:cNvPr id="10" name="Text 8"/>
          <p:cNvSpPr/>
          <p:nvPr/>
        </p:nvSpPr>
        <p:spPr>
          <a:xfrm>
            <a:off x="1417320" y="2103120"/>
            <a:ext cx="1554480" cy="502920"/>
          </a:xfrm>
          <a:prstGeom prst="rect">
            <a:avLst/>
          </a:prstGeom>
          <a:noFill/>
          <a:ln/>
        </p:spPr>
        <p:txBody>
          <a:bodyPr wrap="square" lIns="0" tIns="0" rIns="0" bIns="0" rtlCol="0" anchor="ctr"/>
          <a:lstStyle/>
          <a:p>
            <a:pPr indent="0" marL="0">
              <a:buNone/>
            </a:pPr>
            <a:r>
              <a:rPr lang="en-US" sz="1200" dirty="0">
                <a:solidFill>
                  <a:srgbClr val="243447"/>
                </a:solidFill>
                <a:latin typeface="Calibri" pitchFamily="34" charset="0"/>
                <a:ea typeface="Calibri" pitchFamily="34" charset="-122"/>
                <a:cs typeface="Calibri" pitchFamily="34" charset="-120"/>
              </a:rPr>
              <a:t>Write what users need</a:t>
            </a:r>
            <a:endParaRPr lang="en-US" sz="1200" dirty="0"/>
          </a:p>
        </p:txBody>
      </p:sp>
      <p:sp>
        <p:nvSpPr>
          <p:cNvPr id="11" name="Shape 9"/>
          <p:cNvSpPr/>
          <p:nvPr/>
        </p:nvSpPr>
        <p:spPr>
          <a:xfrm>
            <a:off x="3429000" y="1508760"/>
            <a:ext cx="2560320" cy="128016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2" name="Shape 10"/>
          <p:cNvSpPr/>
          <p:nvPr/>
        </p:nvSpPr>
        <p:spPr>
          <a:xfrm>
            <a:off x="3429000" y="1508760"/>
            <a:ext cx="2560320" cy="45720"/>
          </a:xfrm>
          <a:prstGeom prst="rect">
            <a:avLst/>
          </a:prstGeom>
          <a:solidFill>
            <a:srgbClr val="105F66"/>
          </a:solidFill>
          <a:ln/>
        </p:spPr>
      </p:sp>
      <p:sp>
        <p:nvSpPr>
          <p:cNvPr id="13" name="Shape 11"/>
          <p:cNvSpPr/>
          <p:nvPr/>
        </p:nvSpPr>
        <p:spPr>
          <a:xfrm>
            <a:off x="3611880" y="1737360"/>
            <a:ext cx="457200" cy="457200"/>
          </a:xfrm>
          <a:prstGeom prst="ellipse">
            <a:avLst/>
          </a:prstGeom>
          <a:solidFill>
            <a:srgbClr val="105F66"/>
          </a:solidFill>
          <a:ln/>
        </p:spPr>
      </p:sp>
      <p:sp>
        <p:nvSpPr>
          <p:cNvPr id="14" name="Text 12"/>
          <p:cNvSpPr/>
          <p:nvPr/>
        </p:nvSpPr>
        <p:spPr>
          <a:xfrm>
            <a:off x="36118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4206240" y="1737360"/>
            <a:ext cx="1554480" cy="320040"/>
          </a:xfrm>
          <a:prstGeom prst="rect">
            <a:avLst/>
          </a:prstGeom>
          <a:noFill/>
          <a:ln/>
        </p:spPr>
        <p:txBody>
          <a:bodyPr wrap="square" lIns="0" tIns="0" rIns="0" bIns="0" rtlCol="0" anchor="ctr"/>
          <a:lstStyle/>
          <a:p>
            <a:pPr indent="0" marL="0">
              <a:buNone/>
            </a:pPr>
            <a:r>
              <a:rPr lang="en-US" sz="1600" b="1" dirty="0">
                <a:solidFill>
                  <a:srgbClr val="0F1419"/>
                </a:solidFill>
                <a:latin typeface="Calibri" pitchFamily="34" charset="0"/>
                <a:ea typeface="Calibri" pitchFamily="34" charset="-122"/>
                <a:cs typeface="Calibri" pitchFamily="34" charset="-120"/>
              </a:rPr>
              <a:t>Clarify</a:t>
            </a:r>
            <a:endParaRPr lang="en-US" sz="1600" dirty="0"/>
          </a:p>
        </p:txBody>
      </p:sp>
      <p:sp>
        <p:nvSpPr>
          <p:cNvPr id="16" name="Text 14"/>
          <p:cNvSpPr/>
          <p:nvPr/>
        </p:nvSpPr>
        <p:spPr>
          <a:xfrm>
            <a:off x="4206240" y="2103120"/>
            <a:ext cx="1554480" cy="502920"/>
          </a:xfrm>
          <a:prstGeom prst="rect">
            <a:avLst/>
          </a:prstGeom>
          <a:noFill/>
          <a:ln/>
        </p:spPr>
        <p:txBody>
          <a:bodyPr wrap="square" lIns="0" tIns="0" rIns="0" bIns="0" rtlCol="0" anchor="ctr"/>
          <a:lstStyle/>
          <a:p>
            <a:pPr indent="0" marL="0">
              <a:buNone/>
            </a:pPr>
            <a:r>
              <a:rPr lang="en-US" sz="1200" dirty="0">
                <a:solidFill>
                  <a:srgbClr val="243447"/>
                </a:solidFill>
                <a:latin typeface="Calibri" pitchFamily="34" charset="0"/>
                <a:ea typeface="Calibri" pitchFamily="34" charset="-122"/>
                <a:cs typeface="Calibri" pitchFamily="34" charset="-120"/>
              </a:rPr>
              <a:t>Resolve ambiguities</a:t>
            </a:r>
            <a:endParaRPr lang="en-US" sz="1200" dirty="0"/>
          </a:p>
        </p:txBody>
      </p:sp>
      <p:sp>
        <p:nvSpPr>
          <p:cNvPr id="17" name="Shape 15"/>
          <p:cNvSpPr/>
          <p:nvPr/>
        </p:nvSpPr>
        <p:spPr>
          <a:xfrm>
            <a:off x="6217920" y="1508760"/>
            <a:ext cx="2560320" cy="128016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8" name="Shape 16"/>
          <p:cNvSpPr/>
          <p:nvPr/>
        </p:nvSpPr>
        <p:spPr>
          <a:xfrm>
            <a:off x="6217920" y="1508760"/>
            <a:ext cx="2560320" cy="45720"/>
          </a:xfrm>
          <a:prstGeom prst="rect">
            <a:avLst/>
          </a:prstGeom>
          <a:solidFill>
            <a:srgbClr val="105F66"/>
          </a:solidFill>
          <a:ln/>
        </p:spPr>
      </p:sp>
      <p:sp>
        <p:nvSpPr>
          <p:cNvPr id="19" name="Shape 17"/>
          <p:cNvSpPr/>
          <p:nvPr/>
        </p:nvSpPr>
        <p:spPr>
          <a:xfrm>
            <a:off x="6400800" y="1737360"/>
            <a:ext cx="457200" cy="457200"/>
          </a:xfrm>
          <a:prstGeom prst="ellipse">
            <a:avLst/>
          </a:prstGeom>
          <a:solidFill>
            <a:srgbClr val="105F66"/>
          </a:solidFill>
          <a:ln/>
        </p:spPr>
      </p:sp>
      <p:sp>
        <p:nvSpPr>
          <p:cNvPr id="20" name="Text 18"/>
          <p:cNvSpPr/>
          <p:nvPr/>
        </p:nvSpPr>
        <p:spPr>
          <a:xfrm>
            <a:off x="640080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6995160" y="1737360"/>
            <a:ext cx="1554480" cy="320040"/>
          </a:xfrm>
          <a:prstGeom prst="rect">
            <a:avLst/>
          </a:prstGeom>
          <a:noFill/>
          <a:ln/>
        </p:spPr>
        <p:txBody>
          <a:bodyPr wrap="square" lIns="0" tIns="0" rIns="0" bIns="0" rtlCol="0" anchor="ctr"/>
          <a:lstStyle/>
          <a:p>
            <a:pPr indent="0" marL="0">
              <a:buNone/>
            </a:pPr>
            <a:r>
              <a:rPr lang="en-US" sz="1600" b="1" dirty="0">
                <a:solidFill>
                  <a:srgbClr val="0F1419"/>
                </a:solidFill>
                <a:latin typeface="Calibri" pitchFamily="34" charset="0"/>
                <a:ea typeface="Calibri" pitchFamily="34" charset="-122"/>
                <a:cs typeface="Calibri" pitchFamily="34" charset="-120"/>
              </a:rPr>
              <a:t>Plan</a:t>
            </a:r>
            <a:endParaRPr lang="en-US" sz="1600" dirty="0"/>
          </a:p>
        </p:txBody>
      </p:sp>
      <p:sp>
        <p:nvSpPr>
          <p:cNvPr id="22" name="Text 20"/>
          <p:cNvSpPr/>
          <p:nvPr/>
        </p:nvSpPr>
        <p:spPr>
          <a:xfrm>
            <a:off x="6995160" y="2103120"/>
            <a:ext cx="1554480" cy="502920"/>
          </a:xfrm>
          <a:prstGeom prst="rect">
            <a:avLst/>
          </a:prstGeom>
          <a:noFill/>
          <a:ln/>
        </p:spPr>
        <p:txBody>
          <a:bodyPr wrap="square" lIns="0" tIns="0" rIns="0" bIns="0" rtlCol="0" anchor="ctr"/>
          <a:lstStyle/>
          <a:p>
            <a:pPr indent="0" marL="0">
              <a:buNone/>
            </a:pPr>
            <a:r>
              <a:rPr lang="en-US" sz="1200" dirty="0">
                <a:solidFill>
                  <a:srgbClr val="243447"/>
                </a:solidFill>
                <a:latin typeface="Calibri" pitchFamily="34" charset="0"/>
                <a:ea typeface="Calibri" pitchFamily="34" charset="-122"/>
                <a:cs typeface="Calibri" pitchFamily="34" charset="-120"/>
              </a:rPr>
              <a:t>Design architecture</a:t>
            </a:r>
            <a:endParaRPr lang="en-US" sz="1200" dirty="0"/>
          </a:p>
        </p:txBody>
      </p:sp>
      <p:sp>
        <p:nvSpPr>
          <p:cNvPr id="23" name="Shape 21"/>
          <p:cNvSpPr/>
          <p:nvPr/>
        </p:nvSpPr>
        <p:spPr>
          <a:xfrm>
            <a:off x="640080" y="3108960"/>
            <a:ext cx="2560320" cy="128016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24" name="Shape 22"/>
          <p:cNvSpPr/>
          <p:nvPr/>
        </p:nvSpPr>
        <p:spPr>
          <a:xfrm>
            <a:off x="640080" y="3108960"/>
            <a:ext cx="2560320" cy="45720"/>
          </a:xfrm>
          <a:prstGeom prst="rect">
            <a:avLst/>
          </a:prstGeom>
          <a:solidFill>
            <a:srgbClr val="105F66"/>
          </a:solidFill>
          <a:ln/>
        </p:spPr>
      </p:sp>
      <p:sp>
        <p:nvSpPr>
          <p:cNvPr id="25" name="Shape 23"/>
          <p:cNvSpPr/>
          <p:nvPr/>
        </p:nvSpPr>
        <p:spPr>
          <a:xfrm>
            <a:off x="822960" y="3337560"/>
            <a:ext cx="457200" cy="457200"/>
          </a:xfrm>
          <a:prstGeom prst="ellipse">
            <a:avLst/>
          </a:prstGeom>
          <a:solidFill>
            <a:srgbClr val="105F66"/>
          </a:solidFill>
          <a:ln/>
        </p:spPr>
      </p:sp>
      <p:sp>
        <p:nvSpPr>
          <p:cNvPr id="26" name="Text 24"/>
          <p:cNvSpPr/>
          <p:nvPr/>
        </p:nvSpPr>
        <p:spPr>
          <a:xfrm>
            <a:off x="82296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1417320" y="3337560"/>
            <a:ext cx="1554480" cy="320040"/>
          </a:xfrm>
          <a:prstGeom prst="rect">
            <a:avLst/>
          </a:prstGeom>
          <a:noFill/>
          <a:ln/>
        </p:spPr>
        <p:txBody>
          <a:bodyPr wrap="square" lIns="0" tIns="0" rIns="0" bIns="0" rtlCol="0" anchor="ctr"/>
          <a:lstStyle/>
          <a:p>
            <a:pPr indent="0" marL="0">
              <a:buNone/>
            </a:pPr>
            <a:r>
              <a:rPr lang="en-US" sz="1600" b="1" dirty="0">
                <a:solidFill>
                  <a:srgbClr val="0F1419"/>
                </a:solidFill>
                <a:latin typeface="Calibri" pitchFamily="34" charset="0"/>
                <a:ea typeface="Calibri" pitchFamily="34" charset="-122"/>
                <a:cs typeface="Calibri" pitchFamily="34" charset="-120"/>
              </a:rPr>
              <a:t>Tasks</a:t>
            </a:r>
            <a:endParaRPr lang="en-US" sz="1600" dirty="0"/>
          </a:p>
        </p:txBody>
      </p:sp>
      <p:sp>
        <p:nvSpPr>
          <p:cNvPr id="28" name="Text 26"/>
          <p:cNvSpPr/>
          <p:nvPr/>
        </p:nvSpPr>
        <p:spPr>
          <a:xfrm>
            <a:off x="1417320" y="3703320"/>
            <a:ext cx="1554480" cy="502920"/>
          </a:xfrm>
          <a:prstGeom prst="rect">
            <a:avLst/>
          </a:prstGeom>
          <a:noFill/>
          <a:ln/>
        </p:spPr>
        <p:txBody>
          <a:bodyPr wrap="square" lIns="0" tIns="0" rIns="0" bIns="0" rtlCol="0" anchor="ctr"/>
          <a:lstStyle/>
          <a:p>
            <a:pPr indent="0" marL="0">
              <a:buNone/>
            </a:pPr>
            <a:r>
              <a:rPr lang="en-US" sz="1200" dirty="0">
                <a:solidFill>
                  <a:srgbClr val="243447"/>
                </a:solidFill>
                <a:latin typeface="Calibri" pitchFamily="34" charset="0"/>
                <a:ea typeface="Calibri" pitchFamily="34" charset="-122"/>
                <a:cs typeface="Calibri" pitchFamily="34" charset="-120"/>
              </a:rPr>
              <a:t>Break into testable units</a:t>
            </a:r>
            <a:endParaRPr lang="en-US" sz="1200" dirty="0"/>
          </a:p>
        </p:txBody>
      </p:sp>
      <p:sp>
        <p:nvSpPr>
          <p:cNvPr id="29" name="Shape 27"/>
          <p:cNvSpPr/>
          <p:nvPr/>
        </p:nvSpPr>
        <p:spPr>
          <a:xfrm>
            <a:off x="3429000" y="3108960"/>
            <a:ext cx="2560320" cy="128016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30" name="Shape 28"/>
          <p:cNvSpPr/>
          <p:nvPr/>
        </p:nvSpPr>
        <p:spPr>
          <a:xfrm>
            <a:off x="3429000" y="3108960"/>
            <a:ext cx="2560320" cy="45720"/>
          </a:xfrm>
          <a:prstGeom prst="rect">
            <a:avLst/>
          </a:prstGeom>
          <a:solidFill>
            <a:srgbClr val="105F66"/>
          </a:solidFill>
          <a:ln/>
        </p:spPr>
      </p:sp>
      <p:sp>
        <p:nvSpPr>
          <p:cNvPr id="31" name="Shape 29"/>
          <p:cNvSpPr/>
          <p:nvPr/>
        </p:nvSpPr>
        <p:spPr>
          <a:xfrm>
            <a:off x="3611880" y="3337560"/>
            <a:ext cx="457200" cy="457200"/>
          </a:xfrm>
          <a:prstGeom prst="ellipse">
            <a:avLst/>
          </a:prstGeom>
          <a:solidFill>
            <a:srgbClr val="105F66"/>
          </a:solidFill>
          <a:ln/>
        </p:spPr>
      </p:sp>
      <p:sp>
        <p:nvSpPr>
          <p:cNvPr id="32" name="Text 30"/>
          <p:cNvSpPr/>
          <p:nvPr/>
        </p:nvSpPr>
        <p:spPr>
          <a:xfrm>
            <a:off x="361188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4206240" y="3337560"/>
            <a:ext cx="1554480" cy="320040"/>
          </a:xfrm>
          <a:prstGeom prst="rect">
            <a:avLst/>
          </a:prstGeom>
          <a:noFill/>
          <a:ln/>
        </p:spPr>
        <p:txBody>
          <a:bodyPr wrap="square" lIns="0" tIns="0" rIns="0" bIns="0" rtlCol="0" anchor="ctr"/>
          <a:lstStyle/>
          <a:p>
            <a:pPr indent="0" marL="0">
              <a:buNone/>
            </a:pPr>
            <a:r>
              <a:rPr lang="en-US" sz="1600" b="1" dirty="0">
                <a:solidFill>
                  <a:srgbClr val="0F1419"/>
                </a:solidFill>
                <a:latin typeface="Calibri" pitchFamily="34" charset="0"/>
                <a:ea typeface="Calibri" pitchFamily="34" charset="-122"/>
                <a:cs typeface="Calibri" pitchFamily="34" charset="-120"/>
              </a:rPr>
              <a:t>Analyze</a:t>
            </a:r>
            <a:endParaRPr lang="en-US" sz="1600" dirty="0"/>
          </a:p>
        </p:txBody>
      </p:sp>
      <p:sp>
        <p:nvSpPr>
          <p:cNvPr id="34" name="Text 32"/>
          <p:cNvSpPr/>
          <p:nvPr/>
        </p:nvSpPr>
        <p:spPr>
          <a:xfrm>
            <a:off x="4206240" y="3703320"/>
            <a:ext cx="1554480" cy="502920"/>
          </a:xfrm>
          <a:prstGeom prst="rect">
            <a:avLst/>
          </a:prstGeom>
          <a:noFill/>
          <a:ln/>
        </p:spPr>
        <p:txBody>
          <a:bodyPr wrap="square" lIns="0" tIns="0" rIns="0" bIns="0" rtlCol="0" anchor="ctr"/>
          <a:lstStyle/>
          <a:p>
            <a:pPr indent="0" marL="0">
              <a:buNone/>
            </a:pPr>
            <a:r>
              <a:rPr lang="en-US" sz="1200" dirty="0">
                <a:solidFill>
                  <a:srgbClr val="243447"/>
                </a:solidFill>
                <a:latin typeface="Calibri" pitchFamily="34" charset="0"/>
                <a:ea typeface="Calibri" pitchFamily="34" charset="-122"/>
                <a:cs typeface="Calibri" pitchFamily="34" charset="-120"/>
              </a:rPr>
              <a:t>Consistency check</a:t>
            </a:r>
            <a:endParaRPr lang="en-US" sz="1200" dirty="0"/>
          </a:p>
        </p:txBody>
      </p:sp>
      <p:sp>
        <p:nvSpPr>
          <p:cNvPr id="35" name="Shape 33"/>
          <p:cNvSpPr/>
          <p:nvPr/>
        </p:nvSpPr>
        <p:spPr>
          <a:xfrm>
            <a:off x="6217920" y="3108960"/>
            <a:ext cx="2560320" cy="128016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36" name="Shape 34"/>
          <p:cNvSpPr/>
          <p:nvPr/>
        </p:nvSpPr>
        <p:spPr>
          <a:xfrm>
            <a:off x="6217920" y="3108960"/>
            <a:ext cx="2560320" cy="45720"/>
          </a:xfrm>
          <a:prstGeom prst="rect">
            <a:avLst/>
          </a:prstGeom>
          <a:solidFill>
            <a:srgbClr val="105F66"/>
          </a:solidFill>
          <a:ln/>
        </p:spPr>
      </p:sp>
      <p:sp>
        <p:nvSpPr>
          <p:cNvPr id="37" name="Shape 35"/>
          <p:cNvSpPr/>
          <p:nvPr/>
        </p:nvSpPr>
        <p:spPr>
          <a:xfrm>
            <a:off x="6400800" y="3337560"/>
            <a:ext cx="457200" cy="457200"/>
          </a:xfrm>
          <a:prstGeom prst="ellipse">
            <a:avLst/>
          </a:prstGeom>
          <a:solidFill>
            <a:srgbClr val="105F66"/>
          </a:solidFill>
          <a:ln/>
        </p:spPr>
      </p:sp>
      <p:sp>
        <p:nvSpPr>
          <p:cNvPr id="38" name="Text 36"/>
          <p:cNvSpPr/>
          <p:nvPr/>
        </p:nvSpPr>
        <p:spPr>
          <a:xfrm>
            <a:off x="6400800" y="3337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p:nvPr/>
        </p:nvSpPr>
        <p:spPr>
          <a:xfrm>
            <a:off x="6995160" y="3337560"/>
            <a:ext cx="1554480" cy="320040"/>
          </a:xfrm>
          <a:prstGeom prst="rect">
            <a:avLst/>
          </a:prstGeom>
          <a:noFill/>
          <a:ln/>
        </p:spPr>
        <p:txBody>
          <a:bodyPr wrap="square" lIns="0" tIns="0" rIns="0" bIns="0" rtlCol="0" anchor="ctr"/>
          <a:lstStyle/>
          <a:p>
            <a:pPr indent="0" marL="0">
              <a:buNone/>
            </a:pPr>
            <a:r>
              <a:rPr lang="en-US" sz="1600" b="1" dirty="0">
                <a:solidFill>
                  <a:srgbClr val="0F1419"/>
                </a:solidFill>
                <a:latin typeface="Calibri" pitchFamily="34" charset="0"/>
                <a:ea typeface="Calibri" pitchFamily="34" charset="-122"/>
                <a:cs typeface="Calibri" pitchFamily="34" charset="-120"/>
              </a:rPr>
              <a:t>Implement</a:t>
            </a:r>
            <a:endParaRPr lang="en-US" sz="1600" dirty="0"/>
          </a:p>
        </p:txBody>
      </p:sp>
      <p:sp>
        <p:nvSpPr>
          <p:cNvPr id="40" name="Text 38"/>
          <p:cNvSpPr/>
          <p:nvPr/>
        </p:nvSpPr>
        <p:spPr>
          <a:xfrm>
            <a:off x="6995160" y="3703320"/>
            <a:ext cx="1554480" cy="502920"/>
          </a:xfrm>
          <a:prstGeom prst="rect">
            <a:avLst/>
          </a:prstGeom>
          <a:noFill/>
          <a:ln/>
        </p:spPr>
        <p:txBody>
          <a:bodyPr wrap="square" lIns="0" tIns="0" rIns="0" bIns="0" rtlCol="0" anchor="ctr"/>
          <a:lstStyle/>
          <a:p>
            <a:pPr indent="0" marL="0">
              <a:buNone/>
            </a:pPr>
            <a:r>
              <a:rPr lang="en-US" sz="1200" dirty="0">
                <a:solidFill>
                  <a:srgbClr val="243447"/>
                </a:solidFill>
                <a:latin typeface="Calibri" pitchFamily="34" charset="0"/>
                <a:ea typeface="Calibri" pitchFamily="34" charset="-122"/>
                <a:cs typeface="Calibri" pitchFamily="34" charset="-120"/>
              </a:rPr>
              <a:t>Execute task-by-task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FCBD3"/>
          </a:solidFill>
          <a:ln/>
        </p:spPr>
      </p:sp>
      <p:pic>
        <p:nvPicPr>
          <p:cNvPr id="3" name="Image 0" descr="preencoded.png">    </p:cNvPr>
          <p:cNvPicPr>
            <a:picLocks noChangeAspect="1"/>
          </p:cNvPicPr>
          <p:nvPr/>
        </p:nvPicPr>
        <p:blipFill>
          <a:blip r:embed="rId1"/>
          <a:stretch>
            <a:fillRect/>
          </a:stretch>
        </p:blipFill>
        <p:spPr>
          <a:xfrm>
            <a:off x="4023360" y="1371600"/>
            <a:ext cx="1097280" cy="1097280"/>
          </a:xfrm>
          <a:prstGeom prst="rect">
            <a:avLst/>
          </a:prstGeom>
        </p:spPr>
      </p:pic>
      <p:sp>
        <p:nvSpPr>
          <p:cNvPr id="4" name="Text 1"/>
          <p:cNvSpPr/>
          <p:nvPr/>
        </p:nvSpPr>
        <p:spPr>
          <a:xfrm>
            <a:off x="640080" y="2560320"/>
            <a:ext cx="786384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Conversational UI</a:t>
            </a:r>
            <a:endParaRPr lang="en-US" sz="4000" dirty="0"/>
          </a:p>
        </p:txBody>
      </p:sp>
      <p:sp>
        <p:nvSpPr>
          <p:cNvPr id="5" name="Text 2"/>
          <p:cNvSpPr/>
          <p:nvPr/>
        </p:nvSpPr>
        <p:spPr>
          <a:xfrm>
            <a:off x="640080" y="3291840"/>
            <a:ext cx="7863840" cy="45720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Screenshots from different model implementations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FCBD3"/>
          </a:solidFill>
          <a:ln/>
        </p:spPr>
      </p:sp>
      <p:sp>
        <p:nvSpPr>
          <p:cNvPr id="3" name="Text 1"/>
          <p:cNvSpPr/>
          <p:nvPr/>
        </p:nvSpPr>
        <p:spPr>
          <a:xfrm>
            <a:off x="640080" y="228600"/>
            <a:ext cx="7863840" cy="457200"/>
          </a:xfrm>
          <a:prstGeom prst="rect">
            <a:avLst/>
          </a:prstGeom>
          <a:noFill/>
          <a:ln/>
        </p:spPr>
        <p:txBody>
          <a:bodyPr wrap="square" lIns="0" tIns="0" rIns="0" bIns="0" rtlCol="0" anchor="ctr"/>
          <a:lstStyle/>
          <a:p>
            <a:pPr indent="0" marL="0">
              <a:buNone/>
            </a:pPr>
            <a:r>
              <a:rPr lang="en-US" sz="1800" b="1" dirty="0">
                <a:solidFill>
                  <a:srgbClr val="0F1419"/>
                </a:solidFill>
                <a:latin typeface="Calibri" pitchFamily="34" charset="0"/>
                <a:ea typeface="Calibri" pitchFamily="34" charset="-122"/>
                <a:cs typeface="Calibri" pitchFamily="34" charset="-120"/>
              </a:rPr>
              <a:t>Conversational UI — Model A</a:t>
            </a:r>
            <a:endParaRPr lang="en-US" sz="1800" dirty="0"/>
          </a:p>
        </p:txBody>
      </p:sp>
      <p:sp>
        <p:nvSpPr>
          <p:cNvPr id="4" name="Shape 2"/>
          <p:cNvSpPr/>
          <p:nvPr/>
        </p:nvSpPr>
        <p:spPr>
          <a:xfrm>
            <a:off x="640080" y="868680"/>
            <a:ext cx="7863840" cy="3931920"/>
          </a:xfrm>
          <a:prstGeom prst="rect">
            <a:avLst/>
          </a:prstGeom>
          <a:solidFill>
            <a:srgbClr val="FFFFFF"/>
          </a:solidFill>
          <a:ln w="19050">
            <a:solidFill>
              <a:srgbClr val="CBD5E1"/>
            </a:solidFill>
            <a:prstDash val="dash"/>
          </a:ln>
        </p:spPr>
      </p:sp>
      <p:sp>
        <p:nvSpPr>
          <p:cNvPr id="5" name="Text 3"/>
          <p:cNvSpPr/>
          <p:nvPr/>
        </p:nvSpPr>
        <p:spPr>
          <a:xfrm>
            <a:off x="640080" y="868680"/>
            <a:ext cx="7863840" cy="393192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Insert screenshot here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FCBD3"/>
          </a:solidFill>
          <a:ln/>
        </p:spPr>
      </p:sp>
      <p:sp>
        <p:nvSpPr>
          <p:cNvPr id="3" name="Text 1"/>
          <p:cNvSpPr/>
          <p:nvPr/>
        </p:nvSpPr>
        <p:spPr>
          <a:xfrm>
            <a:off x="640080" y="228600"/>
            <a:ext cx="7863840" cy="457200"/>
          </a:xfrm>
          <a:prstGeom prst="rect">
            <a:avLst/>
          </a:prstGeom>
          <a:noFill/>
          <a:ln/>
        </p:spPr>
        <p:txBody>
          <a:bodyPr wrap="square" lIns="0" tIns="0" rIns="0" bIns="0" rtlCol="0" anchor="ctr"/>
          <a:lstStyle/>
          <a:p>
            <a:pPr indent="0" marL="0">
              <a:buNone/>
            </a:pPr>
            <a:r>
              <a:rPr lang="en-US" sz="1800" b="1" dirty="0">
                <a:solidFill>
                  <a:srgbClr val="0F1419"/>
                </a:solidFill>
                <a:latin typeface="Calibri" pitchFamily="34" charset="0"/>
                <a:ea typeface="Calibri" pitchFamily="34" charset="-122"/>
                <a:cs typeface="Calibri" pitchFamily="34" charset="-120"/>
              </a:rPr>
              <a:t>Conversational UI — Model B</a:t>
            </a:r>
            <a:endParaRPr lang="en-US" sz="1800" dirty="0"/>
          </a:p>
        </p:txBody>
      </p:sp>
      <p:sp>
        <p:nvSpPr>
          <p:cNvPr id="4" name="Shape 2"/>
          <p:cNvSpPr/>
          <p:nvPr/>
        </p:nvSpPr>
        <p:spPr>
          <a:xfrm>
            <a:off x="640080" y="868680"/>
            <a:ext cx="7863840" cy="3931920"/>
          </a:xfrm>
          <a:prstGeom prst="rect">
            <a:avLst/>
          </a:prstGeom>
          <a:solidFill>
            <a:srgbClr val="FFFFFF"/>
          </a:solidFill>
          <a:ln w="19050">
            <a:solidFill>
              <a:srgbClr val="CBD5E1"/>
            </a:solidFill>
            <a:prstDash val="dash"/>
          </a:ln>
        </p:spPr>
      </p:sp>
      <p:sp>
        <p:nvSpPr>
          <p:cNvPr id="5" name="Text 3"/>
          <p:cNvSpPr/>
          <p:nvPr/>
        </p:nvSpPr>
        <p:spPr>
          <a:xfrm>
            <a:off x="640080" y="868680"/>
            <a:ext cx="7863840" cy="393192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Insert screenshot here</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7FCBD3"/>
          </a:solidFill>
          <a:ln/>
        </p:spPr>
      </p:sp>
      <p:sp>
        <p:nvSpPr>
          <p:cNvPr id="3" name="Text 1"/>
          <p:cNvSpPr/>
          <p:nvPr/>
        </p:nvSpPr>
        <p:spPr>
          <a:xfrm>
            <a:off x="640080" y="228600"/>
            <a:ext cx="7863840" cy="457200"/>
          </a:xfrm>
          <a:prstGeom prst="rect">
            <a:avLst/>
          </a:prstGeom>
          <a:noFill/>
          <a:ln/>
        </p:spPr>
        <p:txBody>
          <a:bodyPr wrap="square" lIns="0" tIns="0" rIns="0" bIns="0" rtlCol="0" anchor="ctr"/>
          <a:lstStyle/>
          <a:p>
            <a:pPr indent="0" marL="0">
              <a:buNone/>
            </a:pPr>
            <a:r>
              <a:rPr lang="en-US" sz="1800" b="1" dirty="0">
                <a:solidFill>
                  <a:srgbClr val="0F1419"/>
                </a:solidFill>
                <a:latin typeface="Calibri" pitchFamily="34" charset="0"/>
                <a:ea typeface="Calibri" pitchFamily="34" charset="-122"/>
                <a:cs typeface="Calibri" pitchFamily="34" charset="-120"/>
              </a:rPr>
              <a:t>Conversational UI — Model C</a:t>
            </a:r>
            <a:endParaRPr lang="en-US" sz="1800" dirty="0"/>
          </a:p>
        </p:txBody>
      </p:sp>
      <p:sp>
        <p:nvSpPr>
          <p:cNvPr id="4" name="Shape 2"/>
          <p:cNvSpPr/>
          <p:nvPr/>
        </p:nvSpPr>
        <p:spPr>
          <a:xfrm>
            <a:off x="640080" y="868680"/>
            <a:ext cx="7863840" cy="3931920"/>
          </a:xfrm>
          <a:prstGeom prst="rect">
            <a:avLst/>
          </a:prstGeom>
          <a:solidFill>
            <a:srgbClr val="FFFFFF"/>
          </a:solidFill>
          <a:ln w="19050">
            <a:solidFill>
              <a:srgbClr val="CBD5E1"/>
            </a:solidFill>
            <a:prstDash val="dash"/>
          </a:ln>
        </p:spPr>
      </p:sp>
      <p:sp>
        <p:nvSpPr>
          <p:cNvPr id="5" name="Text 3"/>
          <p:cNvSpPr/>
          <p:nvPr/>
        </p:nvSpPr>
        <p:spPr>
          <a:xfrm>
            <a:off x="640080" y="868680"/>
            <a:ext cx="7863840" cy="393192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Insert screenshot here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C57F"/>
          </a:solidFill>
          <a:ln/>
        </p:spPr>
      </p:sp>
      <p:pic>
        <p:nvPicPr>
          <p:cNvPr id="3" name="Image 0" descr="preencoded.png">    </p:cNvPr>
          <p:cNvPicPr>
            <a:picLocks noChangeAspect="1"/>
          </p:cNvPicPr>
          <p:nvPr/>
        </p:nvPicPr>
        <p:blipFill>
          <a:blip r:embed="rId1"/>
          <a:stretch>
            <a:fillRect/>
          </a:stretch>
        </p:blipFill>
        <p:spPr>
          <a:xfrm>
            <a:off x="4023360" y="1371600"/>
            <a:ext cx="1097280" cy="1097280"/>
          </a:xfrm>
          <a:prstGeom prst="rect">
            <a:avLst/>
          </a:prstGeom>
        </p:spPr>
      </p:pic>
      <p:sp>
        <p:nvSpPr>
          <p:cNvPr id="4" name="Text 1"/>
          <p:cNvSpPr/>
          <p:nvPr/>
        </p:nvSpPr>
        <p:spPr>
          <a:xfrm>
            <a:off x="640080" y="2560320"/>
            <a:ext cx="786384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Multi-Step Wizard UI</a:t>
            </a:r>
            <a:endParaRPr lang="en-US" sz="4000" dirty="0"/>
          </a:p>
        </p:txBody>
      </p:sp>
      <p:sp>
        <p:nvSpPr>
          <p:cNvPr id="5" name="Text 2"/>
          <p:cNvSpPr/>
          <p:nvPr/>
        </p:nvSpPr>
        <p:spPr>
          <a:xfrm>
            <a:off x="640080" y="3291840"/>
            <a:ext cx="7863840" cy="45720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Screenshots from different model implementations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C57F"/>
          </a:solidFill>
          <a:ln/>
        </p:spPr>
      </p:sp>
      <p:sp>
        <p:nvSpPr>
          <p:cNvPr id="3" name="Text 1"/>
          <p:cNvSpPr/>
          <p:nvPr/>
        </p:nvSpPr>
        <p:spPr>
          <a:xfrm>
            <a:off x="640080" y="228600"/>
            <a:ext cx="7863840" cy="457200"/>
          </a:xfrm>
          <a:prstGeom prst="rect">
            <a:avLst/>
          </a:prstGeom>
          <a:noFill/>
          <a:ln/>
        </p:spPr>
        <p:txBody>
          <a:bodyPr wrap="square" lIns="0" tIns="0" rIns="0" bIns="0" rtlCol="0" anchor="ctr"/>
          <a:lstStyle/>
          <a:p>
            <a:pPr indent="0" marL="0">
              <a:buNone/>
            </a:pPr>
            <a:r>
              <a:rPr lang="en-US" sz="1800" b="1" dirty="0">
                <a:solidFill>
                  <a:srgbClr val="0F1419"/>
                </a:solidFill>
                <a:latin typeface="Calibri" pitchFamily="34" charset="0"/>
                <a:ea typeface="Calibri" pitchFamily="34" charset="-122"/>
                <a:cs typeface="Calibri" pitchFamily="34" charset="-120"/>
              </a:rPr>
              <a:t>Multi-Step UI — Model A</a:t>
            </a:r>
            <a:endParaRPr lang="en-US" sz="1800" dirty="0"/>
          </a:p>
        </p:txBody>
      </p:sp>
      <p:sp>
        <p:nvSpPr>
          <p:cNvPr id="4" name="Shape 2"/>
          <p:cNvSpPr/>
          <p:nvPr/>
        </p:nvSpPr>
        <p:spPr>
          <a:xfrm>
            <a:off x="640080" y="868680"/>
            <a:ext cx="7863840" cy="3931920"/>
          </a:xfrm>
          <a:prstGeom prst="rect">
            <a:avLst/>
          </a:prstGeom>
          <a:solidFill>
            <a:srgbClr val="FFFFFF"/>
          </a:solidFill>
          <a:ln w="19050">
            <a:solidFill>
              <a:srgbClr val="CBD5E1"/>
            </a:solidFill>
            <a:prstDash val="dash"/>
          </a:ln>
        </p:spPr>
      </p:sp>
      <p:sp>
        <p:nvSpPr>
          <p:cNvPr id="5" name="Text 3"/>
          <p:cNvSpPr/>
          <p:nvPr/>
        </p:nvSpPr>
        <p:spPr>
          <a:xfrm>
            <a:off x="640080" y="868680"/>
            <a:ext cx="7863840" cy="393192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Insert screenshot here</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C57F"/>
          </a:solidFill>
          <a:ln/>
        </p:spPr>
      </p:sp>
      <p:sp>
        <p:nvSpPr>
          <p:cNvPr id="3" name="Text 1"/>
          <p:cNvSpPr/>
          <p:nvPr/>
        </p:nvSpPr>
        <p:spPr>
          <a:xfrm>
            <a:off x="640080" y="228600"/>
            <a:ext cx="7863840" cy="457200"/>
          </a:xfrm>
          <a:prstGeom prst="rect">
            <a:avLst/>
          </a:prstGeom>
          <a:noFill/>
          <a:ln/>
        </p:spPr>
        <p:txBody>
          <a:bodyPr wrap="square" lIns="0" tIns="0" rIns="0" bIns="0" rtlCol="0" anchor="ctr"/>
          <a:lstStyle/>
          <a:p>
            <a:pPr indent="0" marL="0">
              <a:buNone/>
            </a:pPr>
            <a:r>
              <a:rPr lang="en-US" sz="1800" b="1" dirty="0">
                <a:solidFill>
                  <a:srgbClr val="0F1419"/>
                </a:solidFill>
                <a:latin typeface="Calibri" pitchFamily="34" charset="0"/>
                <a:ea typeface="Calibri" pitchFamily="34" charset="-122"/>
                <a:cs typeface="Calibri" pitchFamily="34" charset="-120"/>
              </a:rPr>
              <a:t>Multi-Step UI — Model B</a:t>
            </a:r>
            <a:endParaRPr lang="en-US" sz="1800" dirty="0"/>
          </a:p>
        </p:txBody>
      </p:sp>
      <p:sp>
        <p:nvSpPr>
          <p:cNvPr id="4" name="Shape 2"/>
          <p:cNvSpPr/>
          <p:nvPr/>
        </p:nvSpPr>
        <p:spPr>
          <a:xfrm>
            <a:off x="640080" y="868680"/>
            <a:ext cx="7863840" cy="3931920"/>
          </a:xfrm>
          <a:prstGeom prst="rect">
            <a:avLst/>
          </a:prstGeom>
          <a:solidFill>
            <a:srgbClr val="FFFFFF"/>
          </a:solidFill>
          <a:ln w="19050">
            <a:solidFill>
              <a:srgbClr val="CBD5E1"/>
            </a:solidFill>
            <a:prstDash val="dash"/>
          </a:ln>
        </p:spPr>
      </p:sp>
      <p:sp>
        <p:nvSpPr>
          <p:cNvPr id="5" name="Text 3"/>
          <p:cNvSpPr/>
          <p:nvPr/>
        </p:nvSpPr>
        <p:spPr>
          <a:xfrm>
            <a:off x="640080" y="868680"/>
            <a:ext cx="7863840" cy="393192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Insert screenshot here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C57F"/>
          </a:solidFill>
          <a:ln/>
        </p:spPr>
      </p:sp>
      <p:sp>
        <p:nvSpPr>
          <p:cNvPr id="3" name="Text 1"/>
          <p:cNvSpPr/>
          <p:nvPr/>
        </p:nvSpPr>
        <p:spPr>
          <a:xfrm>
            <a:off x="640080" y="228600"/>
            <a:ext cx="7863840" cy="457200"/>
          </a:xfrm>
          <a:prstGeom prst="rect">
            <a:avLst/>
          </a:prstGeom>
          <a:noFill/>
          <a:ln/>
        </p:spPr>
        <p:txBody>
          <a:bodyPr wrap="square" lIns="0" tIns="0" rIns="0" bIns="0" rtlCol="0" anchor="ctr"/>
          <a:lstStyle/>
          <a:p>
            <a:pPr indent="0" marL="0">
              <a:buNone/>
            </a:pPr>
            <a:r>
              <a:rPr lang="en-US" sz="1800" b="1" dirty="0">
                <a:solidFill>
                  <a:srgbClr val="0F1419"/>
                </a:solidFill>
                <a:latin typeface="Calibri" pitchFamily="34" charset="0"/>
                <a:ea typeface="Calibri" pitchFamily="34" charset="-122"/>
                <a:cs typeface="Calibri" pitchFamily="34" charset="-120"/>
              </a:rPr>
              <a:t>Multi-Step UI — Model C</a:t>
            </a:r>
            <a:endParaRPr lang="en-US" sz="1800" dirty="0"/>
          </a:p>
        </p:txBody>
      </p:sp>
      <p:sp>
        <p:nvSpPr>
          <p:cNvPr id="4" name="Shape 2"/>
          <p:cNvSpPr/>
          <p:nvPr/>
        </p:nvSpPr>
        <p:spPr>
          <a:xfrm>
            <a:off x="640080" y="868680"/>
            <a:ext cx="7863840" cy="3931920"/>
          </a:xfrm>
          <a:prstGeom prst="rect">
            <a:avLst/>
          </a:prstGeom>
          <a:solidFill>
            <a:srgbClr val="FFFFFF"/>
          </a:solidFill>
          <a:ln w="19050">
            <a:solidFill>
              <a:srgbClr val="CBD5E1"/>
            </a:solidFill>
            <a:prstDash val="dash"/>
          </a:ln>
        </p:spPr>
      </p:sp>
      <p:sp>
        <p:nvSpPr>
          <p:cNvPr id="5" name="Text 3"/>
          <p:cNvSpPr/>
          <p:nvPr/>
        </p:nvSpPr>
        <p:spPr>
          <a:xfrm>
            <a:off x="640080" y="868680"/>
            <a:ext cx="7863840" cy="393192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Insert screenshot here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pic>
        <p:nvPicPr>
          <p:cNvPr id="3" name="Image 0" descr="preencoded.png">    </p:cNvPr>
          <p:cNvPicPr>
            <a:picLocks noChangeAspect="1"/>
          </p:cNvPicPr>
          <p:nvPr/>
        </p:nvPicPr>
        <p:blipFill>
          <a:blip r:embed="rId1"/>
          <a:stretch>
            <a:fillRect/>
          </a:stretch>
        </p:blipFill>
        <p:spPr>
          <a:xfrm>
            <a:off x="4023360" y="1371600"/>
            <a:ext cx="1097280" cy="1097280"/>
          </a:xfrm>
          <a:prstGeom prst="rect">
            <a:avLst/>
          </a:prstGeom>
        </p:spPr>
      </p:pic>
      <p:sp>
        <p:nvSpPr>
          <p:cNvPr id="4" name="Text 1"/>
          <p:cNvSpPr/>
          <p:nvPr/>
        </p:nvSpPr>
        <p:spPr>
          <a:xfrm>
            <a:off x="640080" y="2560320"/>
            <a:ext cx="7863840" cy="7315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Side-by-Side Comparison</a:t>
            </a:r>
            <a:endParaRPr lang="en-US" sz="4000" dirty="0"/>
          </a:p>
        </p:txBody>
      </p:sp>
      <p:sp>
        <p:nvSpPr>
          <p:cNvPr id="5" name="Text 2"/>
          <p:cNvSpPr/>
          <p:nvPr/>
        </p:nvSpPr>
        <p:spPr>
          <a:xfrm>
            <a:off x="640080" y="3291840"/>
            <a:ext cx="7863840" cy="45720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How do different models stack up against the same spec?</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228600"/>
            <a:ext cx="7863840" cy="457200"/>
          </a:xfrm>
          <a:prstGeom prst="rect">
            <a:avLst/>
          </a:prstGeom>
          <a:noFill/>
          <a:ln/>
        </p:spPr>
        <p:txBody>
          <a:bodyPr wrap="square" lIns="0" tIns="0" rIns="0" bIns="0" rtlCol="0" anchor="ctr"/>
          <a:lstStyle/>
          <a:p>
            <a:pPr indent="0" marL="0">
              <a:buNone/>
            </a:pPr>
            <a:r>
              <a:rPr lang="en-US" sz="1800" b="1" dirty="0">
                <a:solidFill>
                  <a:srgbClr val="0F1419"/>
                </a:solidFill>
                <a:latin typeface="Calibri" pitchFamily="34" charset="0"/>
                <a:ea typeface="Calibri" pitchFamily="34" charset="-122"/>
                <a:cs typeface="Calibri" pitchFamily="34" charset="-120"/>
              </a:rPr>
              <a:t>Comparison 1</a:t>
            </a:r>
            <a:endParaRPr lang="en-US" sz="1800" dirty="0"/>
          </a:p>
        </p:txBody>
      </p:sp>
      <p:sp>
        <p:nvSpPr>
          <p:cNvPr id="4" name="Shape 2"/>
          <p:cNvSpPr/>
          <p:nvPr/>
        </p:nvSpPr>
        <p:spPr>
          <a:xfrm>
            <a:off x="457200" y="868680"/>
            <a:ext cx="3977640" cy="3931920"/>
          </a:xfrm>
          <a:prstGeom prst="rect">
            <a:avLst/>
          </a:prstGeom>
          <a:solidFill>
            <a:srgbClr val="FFFFFF"/>
          </a:solidFill>
          <a:ln w="19050">
            <a:solidFill>
              <a:srgbClr val="CBD5E1"/>
            </a:solidFill>
            <a:prstDash val="dash"/>
          </a:ln>
        </p:spPr>
      </p:sp>
      <p:sp>
        <p:nvSpPr>
          <p:cNvPr id="5" name="Text 3"/>
          <p:cNvSpPr/>
          <p:nvPr/>
        </p:nvSpPr>
        <p:spPr>
          <a:xfrm>
            <a:off x="457200" y="868680"/>
            <a:ext cx="3977640" cy="39319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Model A screenshot</a:t>
            </a:r>
            <a:endParaRPr lang="en-US" sz="1600" dirty="0"/>
          </a:p>
        </p:txBody>
      </p:sp>
      <p:sp>
        <p:nvSpPr>
          <p:cNvPr id="6" name="Shape 4"/>
          <p:cNvSpPr/>
          <p:nvPr/>
        </p:nvSpPr>
        <p:spPr>
          <a:xfrm>
            <a:off x="4709160" y="868680"/>
            <a:ext cx="3977640" cy="3931920"/>
          </a:xfrm>
          <a:prstGeom prst="rect">
            <a:avLst/>
          </a:prstGeom>
          <a:solidFill>
            <a:srgbClr val="FFFFFF"/>
          </a:solidFill>
          <a:ln w="19050">
            <a:solidFill>
              <a:srgbClr val="CBD5E1"/>
            </a:solidFill>
            <a:prstDash val="dash"/>
          </a:ln>
        </p:spPr>
      </p:sp>
      <p:sp>
        <p:nvSpPr>
          <p:cNvPr id="7" name="Text 5"/>
          <p:cNvSpPr/>
          <p:nvPr/>
        </p:nvSpPr>
        <p:spPr>
          <a:xfrm>
            <a:off x="4709160" y="868680"/>
            <a:ext cx="3977640" cy="39319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Model B screenshot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Text 1"/>
          <p:cNvSpPr/>
          <p:nvPr/>
        </p:nvSpPr>
        <p:spPr>
          <a:xfrm>
            <a:off x="640080" y="228600"/>
            <a:ext cx="7863840" cy="457200"/>
          </a:xfrm>
          <a:prstGeom prst="rect">
            <a:avLst/>
          </a:prstGeom>
          <a:noFill/>
          <a:ln/>
        </p:spPr>
        <p:txBody>
          <a:bodyPr wrap="square" lIns="0" tIns="0" rIns="0" bIns="0" rtlCol="0" anchor="ctr"/>
          <a:lstStyle/>
          <a:p>
            <a:pPr indent="0" marL="0">
              <a:buNone/>
            </a:pPr>
            <a:r>
              <a:rPr lang="en-US" sz="1800" b="1" dirty="0">
                <a:solidFill>
                  <a:srgbClr val="0F1419"/>
                </a:solidFill>
                <a:latin typeface="Calibri" pitchFamily="34" charset="0"/>
                <a:ea typeface="Calibri" pitchFamily="34" charset="-122"/>
                <a:cs typeface="Calibri" pitchFamily="34" charset="-120"/>
              </a:rPr>
              <a:t>Comparison 2</a:t>
            </a:r>
            <a:endParaRPr lang="en-US" sz="1800" dirty="0"/>
          </a:p>
        </p:txBody>
      </p:sp>
      <p:sp>
        <p:nvSpPr>
          <p:cNvPr id="4" name="Shape 2"/>
          <p:cNvSpPr/>
          <p:nvPr/>
        </p:nvSpPr>
        <p:spPr>
          <a:xfrm>
            <a:off x="457200" y="868680"/>
            <a:ext cx="3977640" cy="3931920"/>
          </a:xfrm>
          <a:prstGeom prst="rect">
            <a:avLst/>
          </a:prstGeom>
          <a:solidFill>
            <a:srgbClr val="FFFFFF"/>
          </a:solidFill>
          <a:ln w="19050">
            <a:solidFill>
              <a:srgbClr val="CBD5E1"/>
            </a:solidFill>
            <a:prstDash val="dash"/>
          </a:ln>
        </p:spPr>
      </p:sp>
      <p:sp>
        <p:nvSpPr>
          <p:cNvPr id="5" name="Text 3"/>
          <p:cNvSpPr/>
          <p:nvPr/>
        </p:nvSpPr>
        <p:spPr>
          <a:xfrm>
            <a:off x="457200" y="868680"/>
            <a:ext cx="3977640" cy="39319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Model A screenshot</a:t>
            </a:r>
            <a:endParaRPr lang="en-US" sz="1600" dirty="0"/>
          </a:p>
        </p:txBody>
      </p:sp>
      <p:sp>
        <p:nvSpPr>
          <p:cNvPr id="6" name="Shape 4"/>
          <p:cNvSpPr/>
          <p:nvPr/>
        </p:nvSpPr>
        <p:spPr>
          <a:xfrm>
            <a:off x="4709160" y="868680"/>
            <a:ext cx="3977640" cy="3931920"/>
          </a:xfrm>
          <a:prstGeom prst="rect">
            <a:avLst/>
          </a:prstGeom>
          <a:solidFill>
            <a:srgbClr val="FFFFFF"/>
          </a:solidFill>
          <a:ln w="19050">
            <a:solidFill>
              <a:srgbClr val="CBD5E1"/>
            </a:solidFill>
            <a:prstDash val="dash"/>
          </a:ln>
        </p:spPr>
      </p:sp>
      <p:sp>
        <p:nvSpPr>
          <p:cNvPr id="7" name="Text 5"/>
          <p:cNvSpPr/>
          <p:nvPr/>
        </p:nvSpPr>
        <p:spPr>
          <a:xfrm>
            <a:off x="4709160" y="868680"/>
            <a:ext cx="3977640" cy="39319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Model B screenshot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35205"/>
          </a:solidFill>
          <a:ln/>
        </p:spPr>
      </p:sp>
      <p:sp>
        <p:nvSpPr>
          <p:cNvPr id="3" name="Shape 1"/>
          <p:cNvSpPr/>
          <p:nvPr/>
        </p:nvSpPr>
        <p:spPr>
          <a:xfrm>
            <a:off x="0" y="5088636"/>
            <a:ext cx="9144000" cy="54864"/>
          </a:xfrm>
          <a:prstGeom prst="rect">
            <a:avLst/>
          </a:prstGeom>
          <a:solidFill>
            <a:srgbClr val="E35205"/>
          </a:solidFill>
          <a:ln/>
        </p:spPr>
      </p:sp>
      <p:sp>
        <p:nvSpPr>
          <p:cNvPr id="4" name="Text 2"/>
          <p:cNvSpPr/>
          <p:nvPr/>
        </p:nvSpPr>
        <p:spPr>
          <a:xfrm>
            <a:off x="640080" y="548640"/>
            <a:ext cx="8229600" cy="6400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Takeaways</a:t>
            </a:r>
            <a:endParaRPr lang="en-US" sz="4000" dirty="0"/>
          </a:p>
        </p:txBody>
      </p:sp>
      <p:pic>
        <p:nvPicPr>
          <p:cNvPr id="5" name="Image 0" descr="preencoded.png">    </p:cNvPr>
          <p:cNvPicPr>
            <a:picLocks noChangeAspect="1"/>
          </p:cNvPicPr>
          <p:nvPr/>
        </p:nvPicPr>
        <p:blipFill>
          <a:blip r:embed="rId1"/>
          <a:stretch>
            <a:fillRect/>
          </a:stretch>
        </p:blipFill>
        <p:spPr>
          <a:xfrm>
            <a:off x="640080" y="1508760"/>
            <a:ext cx="320040" cy="320040"/>
          </a:xfrm>
          <a:prstGeom prst="rect">
            <a:avLst/>
          </a:prstGeom>
        </p:spPr>
      </p:pic>
      <p:sp>
        <p:nvSpPr>
          <p:cNvPr id="6" name="Text 3"/>
          <p:cNvSpPr/>
          <p:nvPr/>
        </p:nvSpPr>
        <p:spPr>
          <a:xfrm>
            <a:off x="1097280" y="1463040"/>
            <a:ext cx="7315200" cy="45720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Specs as the single source of truth eliminate ambiguity across model implementations</a:t>
            </a:r>
            <a:endParaRPr lang="en-US" sz="1500" dirty="0"/>
          </a:p>
        </p:txBody>
      </p:sp>
      <p:pic>
        <p:nvPicPr>
          <p:cNvPr id="7" name="Image 1" descr="preencoded.png">    </p:cNvPr>
          <p:cNvPicPr>
            <a:picLocks noChangeAspect="1"/>
          </p:cNvPicPr>
          <p:nvPr/>
        </p:nvPicPr>
        <p:blipFill>
          <a:blip r:embed="rId2"/>
          <a:stretch>
            <a:fillRect/>
          </a:stretch>
        </p:blipFill>
        <p:spPr>
          <a:xfrm>
            <a:off x="640080" y="2286000"/>
            <a:ext cx="320040" cy="320040"/>
          </a:xfrm>
          <a:prstGeom prst="rect">
            <a:avLst/>
          </a:prstGeom>
        </p:spPr>
      </p:pic>
      <p:sp>
        <p:nvSpPr>
          <p:cNvPr id="8" name="Text 4"/>
          <p:cNvSpPr/>
          <p:nvPr/>
        </p:nvSpPr>
        <p:spPr>
          <a:xfrm>
            <a:off x="1097280" y="2240280"/>
            <a:ext cx="7315200" cy="45720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Separating API, design, and UI specs enables independent evaluation of each layer</a:t>
            </a:r>
            <a:endParaRPr lang="en-US" sz="1500" dirty="0"/>
          </a:p>
        </p:txBody>
      </p:sp>
      <p:pic>
        <p:nvPicPr>
          <p:cNvPr id="9" name="Image 2" descr="preencoded.png">    </p:cNvPr>
          <p:cNvPicPr>
            <a:picLocks noChangeAspect="1"/>
          </p:cNvPicPr>
          <p:nvPr/>
        </p:nvPicPr>
        <p:blipFill>
          <a:blip r:embed="rId3"/>
          <a:stretch>
            <a:fillRect/>
          </a:stretch>
        </p:blipFill>
        <p:spPr>
          <a:xfrm>
            <a:off x="640080" y="3063240"/>
            <a:ext cx="320040" cy="320040"/>
          </a:xfrm>
          <a:prstGeom prst="rect">
            <a:avLst/>
          </a:prstGeom>
        </p:spPr>
      </p:pic>
      <p:sp>
        <p:nvSpPr>
          <p:cNvPr id="10" name="Text 5"/>
          <p:cNvSpPr/>
          <p:nvPr/>
        </p:nvSpPr>
        <p:spPr>
          <a:xfrm>
            <a:off x="1097280" y="3017520"/>
            <a:ext cx="7315200" cy="45720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Same spec, different models — reveals strengths and blind spots in each AI's output</a:t>
            </a:r>
            <a:endParaRPr lang="en-US" sz="1500" dirty="0"/>
          </a:p>
        </p:txBody>
      </p:sp>
      <p:pic>
        <p:nvPicPr>
          <p:cNvPr id="11" name="Image 3" descr="preencoded.png">    </p:cNvPr>
          <p:cNvPicPr>
            <a:picLocks noChangeAspect="1"/>
          </p:cNvPicPr>
          <p:nvPr/>
        </p:nvPicPr>
        <p:blipFill>
          <a:blip r:embed="rId4"/>
          <a:stretch>
            <a:fillRect/>
          </a:stretch>
        </p:blipFill>
        <p:spPr>
          <a:xfrm>
            <a:off x="640080" y="3840480"/>
            <a:ext cx="320040" cy="320040"/>
          </a:xfrm>
          <a:prstGeom prst="rect">
            <a:avLst/>
          </a:prstGeom>
        </p:spPr>
      </p:pic>
      <p:sp>
        <p:nvSpPr>
          <p:cNvPr id="12" name="Text 6"/>
          <p:cNvSpPr/>
          <p:nvPr/>
        </p:nvSpPr>
        <p:spPr>
          <a:xfrm>
            <a:off x="1097280" y="3794760"/>
            <a:ext cx="7315200" cy="45720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The Speckit workflow creates reproducible, auditable AI-driven development</a:t>
            </a:r>
            <a:endParaRPr lang="en-US" sz="1500" dirty="0"/>
          </a:p>
        </p:txBody>
      </p:sp>
      <p:sp>
        <p:nvSpPr>
          <p:cNvPr id="13" name="Text 7"/>
          <p:cNvSpPr/>
          <p:nvPr/>
        </p:nvSpPr>
        <p:spPr>
          <a:xfrm>
            <a:off x="640080" y="4160520"/>
            <a:ext cx="45720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mehmet@mehmetakyuz.net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Spec-Based Implementation — Booking Engine</dc:title>
  <dc:subject>PptxGenJS Presentation</dc:subject>
  <dc:creator>Mehmet Akyuz</dc:creator>
  <cp:lastModifiedBy>Mehmet Akyuz</cp:lastModifiedBy>
  <cp:revision>1</cp:revision>
  <dcterms:created xsi:type="dcterms:W3CDTF">2026-03-24T04:44:07Z</dcterms:created>
  <dcterms:modified xsi:type="dcterms:W3CDTF">2026-03-24T04:44:07Z</dcterms:modified>
</cp:coreProperties>
</file>